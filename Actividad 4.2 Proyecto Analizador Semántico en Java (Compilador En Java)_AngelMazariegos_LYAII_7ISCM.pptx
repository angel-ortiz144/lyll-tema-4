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43" r:id="rId1"/>
  </p:sldMasterIdLst>
  <p:sldIdLst>
    <p:sldId id="256" r:id="rId2"/>
    <p:sldId id="257" r:id="rId3"/>
    <p:sldId id="290" r:id="rId4"/>
    <p:sldId id="332" r:id="rId5"/>
    <p:sldId id="333" r:id="rId6"/>
    <p:sldId id="334" r:id="rId7"/>
    <p:sldId id="336" r:id="rId8"/>
    <p:sldId id="335" r:id="rId9"/>
    <p:sldId id="337" r:id="rId10"/>
    <p:sldId id="338" r:id="rId11"/>
    <p:sldId id="339" r:id="rId12"/>
    <p:sldId id="340" r:id="rId13"/>
    <p:sldId id="341" r:id="rId14"/>
    <p:sldId id="342" r:id="rId15"/>
    <p:sldId id="343" r:id="rId16"/>
    <p:sldId id="344" r:id="rId17"/>
    <p:sldId id="345" r:id="rId18"/>
    <p:sldId id="346" r:id="rId19"/>
    <p:sldId id="347" r:id="rId20"/>
    <p:sldId id="348" r:id="rId21"/>
    <p:sldId id="266" r:id="rId22"/>
    <p:sldId id="331" r:id="rId23"/>
    <p:sldId id="300"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85" d="100"/>
          <a:sy n="85" d="100"/>
        </p:scale>
        <p:origin x="40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4019517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4099432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8A87A34-81AB-432B-8DAE-1953F412C126}" type="datetimeFigureOut">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187928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618163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913795" y="2912232"/>
            <a:ext cx="5107208"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912232"/>
            <a:ext cx="5095357"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10/3/2026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912398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10/3/2026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715955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10/3/2026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539049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1093092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886496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408719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2993093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95467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957497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smtClean="0"/>
              <a:pPr/>
              <a:t>10/3/2026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9619855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smtClean="0"/>
              <a:pPr/>
              <a:t>10/3/2026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300433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9740372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2762688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90374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smtClean="0"/>
              <a:pPr/>
              <a:t>10/3/2026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064668593"/>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46" r:id="rId3"/>
    <p:sldLayoutId id="2147483947" r:id="rId4"/>
    <p:sldLayoutId id="2147483948" r:id="rId5"/>
    <p:sldLayoutId id="2147483949" r:id="rId6"/>
    <p:sldLayoutId id="2147483950" r:id="rId7"/>
    <p:sldLayoutId id="2147483951" r:id="rId8"/>
    <p:sldLayoutId id="2147483952" r:id="rId9"/>
    <p:sldLayoutId id="2147483953" r:id="rId10"/>
    <p:sldLayoutId id="2147483954" r:id="rId11"/>
    <p:sldLayoutId id="2147483955" r:id="rId12"/>
    <p:sldLayoutId id="2147483956" r:id="rId13"/>
    <p:sldLayoutId id="2147483957" r:id="rId14"/>
    <p:sldLayoutId id="2147483958" r:id="rId15"/>
    <p:sldLayoutId id="2147483959" r:id="rId16"/>
    <p:sldLayoutId id="2147483960" r:id="rId17"/>
    <p:sldLayoutId id="2147483961" r:id="rId18"/>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8.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8.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1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1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8.xml"/><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8.xml"/><Relationship Id="rId5" Type="http://schemas.openxmlformats.org/officeDocument/2006/relationships/image" Target="../media/image44.pn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http://localhost:8080" TargetMode="Externa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8.xml"/><Relationship Id="rId5" Type="http://schemas.openxmlformats.org/officeDocument/2006/relationships/image" Target="../media/image50.png"/><Relationship Id="rId4" Type="http://schemas.openxmlformats.org/officeDocument/2006/relationships/image" Target="../media/image49.png"/></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8.xml"/><Relationship Id="rId4" Type="http://schemas.openxmlformats.org/officeDocument/2006/relationships/image" Target="../media/image53.png"/></Relationships>
</file>

<file path=ppt/slides/_rels/slide1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hyperlink" Target="https://share.google/MXX3Z4z8JzS138d3W" TargetMode="External"/><Relationship Id="rId2" Type="http://schemas.openxmlformats.org/officeDocument/2006/relationships/hyperlink" Target="https://share.google/lIiBDA66cjWhvBwMT" TargetMode="External"/><Relationship Id="rId1" Type="http://schemas.openxmlformats.org/officeDocument/2006/relationships/slideLayout" Target="../slideLayouts/slideLayout18.xml"/><Relationship Id="rId6" Type="http://schemas.openxmlformats.org/officeDocument/2006/relationships/hyperlink" Target="https://share.google/toBdqPyQUF4cLoPQu" TargetMode="External"/><Relationship Id="rId5" Type="http://schemas.openxmlformats.org/officeDocument/2006/relationships/hyperlink" Target="https://share.google/BOoWz0Ie0nwu99gmU" TargetMode="External"/><Relationship Id="rId4" Type="http://schemas.openxmlformats.org/officeDocument/2006/relationships/hyperlink" Target="https://youtu.be/5AaDqy1UiFU?si=K0tv__YZputsoZ1b"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hyperlink" Target="https://github.com/Angel-ortiz144/LYAll-Tema-4.git"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13722" y="1834632"/>
            <a:ext cx="10743834" cy="1027386"/>
          </a:xfrm>
        </p:spPr>
        <p:txBody>
          <a:bodyPr>
            <a:normAutofit fontScale="90000"/>
          </a:bodyPr>
          <a:lstStyle/>
          <a:p>
            <a:pPr algn="ctr"/>
            <a:r>
              <a:rPr lang="es-MX" sz="3600" b="1" dirty="0"/>
              <a:t>Instituto tecnológico de nacional de México </a:t>
            </a:r>
            <a:br>
              <a:rPr lang="es-MX" sz="3600" b="1" dirty="0"/>
            </a:br>
            <a:r>
              <a:rPr lang="es-MX" sz="2000" b="1" dirty="0"/>
              <a:t>(instituto tecnológico de frontera Comalapa) </a:t>
            </a:r>
            <a:endParaRPr lang="es-MX" sz="3600" b="1"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0488" y="128946"/>
            <a:ext cx="3610303" cy="1482523"/>
          </a:xfrm>
          <a:prstGeom prst="rect">
            <a:avLst/>
          </a:prstGeom>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63" y="-68067"/>
            <a:ext cx="3941380" cy="1876551"/>
          </a:xfrm>
          <a:prstGeom prst="rect">
            <a:avLst/>
          </a:prstGeom>
        </p:spPr>
      </p:pic>
      <p:sp>
        <p:nvSpPr>
          <p:cNvPr id="8" name="Título 1"/>
          <p:cNvSpPr txBox="1">
            <a:spLocks/>
          </p:cNvSpPr>
          <p:nvPr/>
        </p:nvSpPr>
        <p:spPr>
          <a:xfrm>
            <a:off x="820324" y="2862018"/>
            <a:ext cx="10330629" cy="4273801"/>
          </a:xfrm>
          <a:prstGeom prst="rect">
            <a:avLst/>
          </a:prstGeom>
        </p:spPr>
        <p:txBody>
          <a:bodyPr vert="horz" lIns="91440" tIns="45720" rIns="91440" bIns="45720" rtlCol="0" anchor="b">
            <a:normAutofit fontScale="8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r>
              <a:rPr lang="es-MX" sz="2900" b="1" dirty="0"/>
              <a:t>Presentación</a:t>
            </a:r>
          </a:p>
          <a:p>
            <a:endParaRPr lang="es-MX" sz="2900" b="1" dirty="0"/>
          </a:p>
          <a:p>
            <a:r>
              <a:rPr lang="es-MX" sz="2000" b="1" dirty="0"/>
              <a:t>Nombre del estudiante: </a:t>
            </a:r>
          </a:p>
          <a:p>
            <a:r>
              <a:rPr lang="es-MX" sz="2000" cap="none" dirty="0" err="1"/>
              <a:t>Angel</a:t>
            </a:r>
            <a:r>
              <a:rPr lang="es-MX" sz="2000" cap="none" dirty="0"/>
              <a:t> De </a:t>
            </a:r>
            <a:r>
              <a:rPr lang="es-MX" sz="2000" cap="none" dirty="0" err="1"/>
              <a:t>Jesus</a:t>
            </a:r>
            <a:r>
              <a:rPr lang="es-MX" sz="2000" cap="none" dirty="0"/>
              <a:t> Mazariegos Ortiz</a:t>
            </a:r>
          </a:p>
          <a:p>
            <a:endParaRPr lang="es-MX" sz="2000" cap="none" dirty="0"/>
          </a:p>
          <a:p>
            <a:r>
              <a:rPr lang="es-MX" sz="2000" b="1" dirty="0"/>
              <a:t>no. Control:</a:t>
            </a:r>
          </a:p>
          <a:p>
            <a:r>
              <a:rPr lang="es-MX" sz="2000" dirty="0"/>
              <a:t>231260003</a:t>
            </a:r>
          </a:p>
          <a:p>
            <a:endParaRPr lang="es-MX" sz="2000" dirty="0"/>
          </a:p>
          <a:p>
            <a:r>
              <a:rPr lang="es-MX" sz="2000" b="1" cap="none" dirty="0"/>
              <a:t>MATERIA:</a:t>
            </a:r>
          </a:p>
          <a:p>
            <a:r>
              <a:rPr lang="es-US" sz="2000" cap="none" dirty="0"/>
              <a:t>Lenguajes y Autómatas II </a:t>
            </a:r>
            <a:endParaRPr lang="es-MX" sz="2000" cap="none" dirty="0"/>
          </a:p>
          <a:p>
            <a:endParaRPr lang="es-MX" sz="2000" dirty="0"/>
          </a:p>
          <a:p>
            <a:r>
              <a:rPr lang="es-MX" sz="2000" b="1" dirty="0"/>
              <a:t>Nombre del docente:</a:t>
            </a:r>
          </a:p>
          <a:p>
            <a:r>
              <a:rPr lang="es-MX" sz="2000" cap="none" dirty="0"/>
              <a:t>Francisco Javier Velázquez Mingo</a:t>
            </a:r>
          </a:p>
          <a:p>
            <a:endParaRPr lang="es-MX" sz="2000" dirty="0"/>
          </a:p>
          <a:p>
            <a:r>
              <a:rPr lang="es-MX" sz="2000" b="1" dirty="0"/>
              <a:t>Semestre:</a:t>
            </a:r>
            <a:endParaRPr lang="es-MX" sz="2000" b="1" cap="none" dirty="0"/>
          </a:p>
          <a:p>
            <a:r>
              <a:rPr lang="es-US" sz="2000" cap="none" dirty="0"/>
              <a:t>Séptimo </a:t>
            </a:r>
            <a:r>
              <a:rPr lang="es-MX" sz="2000" cap="none" dirty="0"/>
              <a:t>Semestre </a:t>
            </a:r>
          </a:p>
          <a:p>
            <a:endParaRPr lang="es-MX" sz="2000" dirty="0"/>
          </a:p>
          <a:p>
            <a:r>
              <a:rPr lang="es-MX" sz="2000" b="1" dirty="0"/>
              <a:t>Fecha:</a:t>
            </a:r>
          </a:p>
          <a:p>
            <a:r>
              <a:rPr lang="es-US" sz="2000" dirty="0"/>
              <a:t>04/10/2026</a:t>
            </a:r>
            <a:endParaRPr lang="es-MX" sz="2000" dirty="0"/>
          </a:p>
          <a:p>
            <a:endParaRPr lang="es-MX" sz="2100" dirty="0"/>
          </a:p>
          <a:p>
            <a:r>
              <a:rPr lang="es-MX" sz="3600" dirty="0"/>
              <a:t> </a:t>
            </a:r>
            <a:r>
              <a:rPr lang="es-MX" sz="3600" b="1" dirty="0"/>
              <a:t> </a:t>
            </a:r>
          </a:p>
        </p:txBody>
      </p:sp>
      <p:pic>
        <p:nvPicPr>
          <p:cNvPr id="7" name="Imagen 6">
            <a:extLst>
              <a:ext uri="{FF2B5EF4-FFF2-40B4-BE49-F238E27FC236}">
                <a16:creationId xmlns:a16="http://schemas.microsoft.com/office/drawing/2014/main" id="{1FA55246-EC8D-4FB4-B724-80EC97353906}"/>
              </a:ext>
            </a:extLst>
          </p:cNvPr>
          <p:cNvPicPr>
            <a:picLocks noChangeAspect="1"/>
          </p:cNvPicPr>
          <p:nvPr/>
        </p:nvPicPr>
        <p:blipFill>
          <a:blip r:embed="rId4"/>
          <a:stretch>
            <a:fillRect/>
          </a:stretch>
        </p:blipFill>
        <p:spPr>
          <a:xfrm>
            <a:off x="8313685" y="0"/>
            <a:ext cx="3116315" cy="1828800"/>
          </a:xfrm>
          <a:prstGeom prst="rect">
            <a:avLst/>
          </a:prstGeom>
        </p:spPr>
      </p:pic>
      <p:pic>
        <p:nvPicPr>
          <p:cNvPr id="9" name="Imagen 8">
            <a:extLst>
              <a:ext uri="{FF2B5EF4-FFF2-40B4-BE49-F238E27FC236}">
                <a16:creationId xmlns:a16="http://schemas.microsoft.com/office/drawing/2014/main" id="{6CA0DCF5-F42E-4506-A461-330A6B57584D}"/>
              </a:ext>
            </a:extLst>
          </p:cNvPr>
          <p:cNvPicPr>
            <a:picLocks noChangeAspect="1"/>
          </p:cNvPicPr>
          <p:nvPr/>
        </p:nvPicPr>
        <p:blipFill rotWithShape="1">
          <a:blip r:embed="rId4">
            <a:lum bright="70000" contrast="-70000"/>
          </a:blip>
          <a:srcRect t="74026"/>
          <a:stretch/>
        </p:blipFill>
        <p:spPr>
          <a:xfrm>
            <a:off x="8313685" y="1356696"/>
            <a:ext cx="3116315" cy="475020"/>
          </a:xfrm>
          <a:prstGeom prst="rect">
            <a:avLst/>
          </a:prstGeom>
        </p:spPr>
      </p:pic>
    </p:spTree>
    <p:extLst>
      <p:ext uri="{BB962C8B-B14F-4D97-AF65-F5344CB8AC3E}">
        <p14:creationId xmlns:p14="http://schemas.microsoft.com/office/powerpoint/2010/main" val="725301386"/>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83109" y="-119292"/>
            <a:ext cx="10364451" cy="1596177"/>
          </a:xfrm>
        </p:spPr>
        <p:txBody>
          <a:bodyPr/>
          <a:lstStyle/>
          <a:p>
            <a:pPr algn="ctr"/>
            <a:r>
              <a:rPr lang="es-MX" b="1" dirty="0"/>
              <a:t>Introducción </a:t>
            </a:r>
          </a:p>
        </p:txBody>
      </p:sp>
      <p:sp>
        <p:nvSpPr>
          <p:cNvPr id="3" name="Marcador de contenido 2"/>
          <p:cNvSpPr>
            <a:spLocks noGrp="1"/>
          </p:cNvSpPr>
          <p:nvPr>
            <p:ph sz="quarter" idx="13"/>
          </p:nvPr>
        </p:nvSpPr>
        <p:spPr>
          <a:xfrm>
            <a:off x="918249" y="1124519"/>
            <a:ext cx="10529311" cy="5517621"/>
          </a:xfrm>
        </p:spPr>
        <p:txBody>
          <a:bodyPr>
            <a:normAutofit/>
          </a:bodyPr>
          <a:lstStyle/>
          <a:p>
            <a:pPr marL="0" indent="0" algn="just">
              <a:buNone/>
            </a:pPr>
            <a:r>
              <a:rPr lang="es-US" sz="1800" dirty="0">
                <a:effectLst/>
              </a:rPr>
              <a:t>​El desarrollo de compiladores constituye una de las áreas fundamentales de las ciencias de la computación, permitiendo comprender a profundidad cómo un lenguaje de alto nivel es interpretado, analizado y traducido hacia representaciones de bajo nivel ejecutables por una máquina. El presente trabajo detalla el proceso de configuración, estructuración y puesta en marcha de un Compilador Educativo basado en un entorno moderno con Spring </a:t>
            </a:r>
            <a:r>
              <a:rPr lang="es-US" sz="1800" dirty="0" err="1">
                <a:effectLst/>
              </a:rPr>
              <a:t>Boot</a:t>
            </a:r>
            <a:r>
              <a:rPr lang="es-US" sz="1800" dirty="0">
                <a:effectLst/>
              </a:rPr>
              <a:t>, utilizando </a:t>
            </a:r>
            <a:r>
              <a:rPr lang="es-US" sz="1800" dirty="0" err="1">
                <a:effectLst/>
              </a:rPr>
              <a:t>IntelliJ</a:t>
            </a:r>
            <a:r>
              <a:rPr lang="es-US" sz="1800" dirty="0">
                <a:effectLst/>
              </a:rPr>
              <a:t> IDEA como entorno de desarrollo integrado y Java 17. A través de una arquitectura web interactiva que integra módulos de análisis sintáctico, semántico, generación de código intermedio, optimización y código objeto, este proyecto busca ofrecer una herramienta didáctica y visual que facilite el estudio de las fases de compilación de manera práctica. </a:t>
            </a:r>
            <a:endParaRPr lang="es-MX" sz="1800" dirty="0">
              <a:effectLst/>
            </a:endParaRPr>
          </a:p>
        </p:txBody>
      </p:sp>
    </p:spTree>
    <p:extLst>
      <p:ext uri="{BB962C8B-B14F-4D97-AF65-F5344CB8AC3E}">
        <p14:creationId xmlns:p14="http://schemas.microsoft.com/office/powerpoint/2010/main" val="1232296404"/>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96DCB7-4A5B-B10C-1BC9-2108E5E4FF8B}"/>
              </a:ext>
            </a:extLst>
          </p:cNvPr>
          <p:cNvSpPr>
            <a:spLocks noGrp="1"/>
          </p:cNvSpPr>
          <p:nvPr>
            <p:ph type="title"/>
          </p:nvPr>
        </p:nvSpPr>
        <p:spPr>
          <a:xfrm>
            <a:off x="785902" y="0"/>
            <a:ext cx="10353761" cy="1326321"/>
          </a:xfrm>
        </p:spPr>
        <p:txBody>
          <a:bodyPr/>
          <a:lstStyle/>
          <a:p>
            <a:r>
              <a:rPr lang="es-US" dirty="0"/>
              <a:t>JUSTIFICACIÓN</a:t>
            </a:r>
          </a:p>
        </p:txBody>
      </p:sp>
      <p:sp>
        <p:nvSpPr>
          <p:cNvPr id="3" name="Marcador de contenido 2">
            <a:extLst>
              <a:ext uri="{FF2B5EF4-FFF2-40B4-BE49-F238E27FC236}">
                <a16:creationId xmlns:a16="http://schemas.microsoft.com/office/drawing/2014/main" id="{AE72E3CF-E2AD-28F8-DF10-5DF1E7BEF702}"/>
              </a:ext>
            </a:extLst>
          </p:cNvPr>
          <p:cNvSpPr>
            <a:spLocks noGrp="1"/>
          </p:cNvSpPr>
          <p:nvPr>
            <p:ph sz="quarter" idx="13"/>
          </p:nvPr>
        </p:nvSpPr>
        <p:spPr>
          <a:xfrm>
            <a:off x="919119" y="1194731"/>
            <a:ext cx="10363826" cy="6318695"/>
          </a:xfrm>
        </p:spPr>
        <p:txBody>
          <a:bodyPr>
            <a:normAutofit/>
          </a:bodyPr>
          <a:lstStyle/>
          <a:p>
            <a:pPr marL="0" indent="0" algn="just">
              <a:buNone/>
            </a:pPr>
            <a:r>
              <a:rPr lang="es-US" sz="1800" dirty="0"/>
              <a:t>La enseñanza y el aprendizaje de la teoría de compiladores suelen presentar un desafío debido a la abstracción de sus conceptos matemáticos y formales. Por ello, la creación de este Compilador Educativo se justifica en la necesidad de tender un puente entre la teoría académica y la implementación práctica mediante interfaces visuales intuitivas y tecnologías actuales de desarrollo web y de servicios </a:t>
            </a:r>
            <a:r>
              <a:rPr lang="es-US" sz="1800" dirty="0" err="1"/>
              <a:t>backend</a:t>
            </a:r>
            <a:r>
              <a:rPr lang="es-US" sz="1800" dirty="0"/>
              <a:t>. Al estructurar el proyecto bajo un entorno modular con </a:t>
            </a:r>
            <a:r>
              <a:rPr lang="es-US" sz="1800" dirty="0" err="1"/>
              <a:t>Maven</a:t>
            </a:r>
            <a:r>
              <a:rPr lang="es-US" sz="1800" dirty="0"/>
              <a:t> y Spring </a:t>
            </a:r>
            <a:r>
              <a:rPr lang="es-US" sz="1800" dirty="0" err="1"/>
              <a:t>Boot</a:t>
            </a:r>
            <a:r>
              <a:rPr lang="es-US" sz="1800" dirty="0"/>
              <a:t>, se garantiza una arquitectura escalable, fácil de desplegar y capaz de procesar flujos complejos como tablas de símbolos, cuádruplos y optimización de código de forma automatizada. Esto no solo optimiza la comprensión del flujo de compilación por parte de los estudiantes, sino que también fomenta buenas prácticas en el desarrollo de software orientado a servicios y aplicaciones full-</a:t>
            </a:r>
            <a:r>
              <a:rPr lang="es-US" sz="1800" dirty="0" err="1"/>
              <a:t>stack</a:t>
            </a:r>
            <a:r>
              <a:rPr lang="es-US" sz="1800" dirty="0"/>
              <a:t>.</a:t>
            </a:r>
          </a:p>
        </p:txBody>
      </p:sp>
    </p:spTree>
    <p:extLst>
      <p:ext uri="{BB962C8B-B14F-4D97-AF65-F5344CB8AC3E}">
        <p14:creationId xmlns:p14="http://schemas.microsoft.com/office/powerpoint/2010/main" val="679947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47F3E22-7D95-E40C-5574-92C5819DC361}"/>
              </a:ext>
            </a:extLst>
          </p:cNvPr>
          <p:cNvSpPr>
            <a:spLocks noGrp="1"/>
          </p:cNvSpPr>
          <p:nvPr>
            <p:ph sz="quarter" idx="13"/>
          </p:nvPr>
        </p:nvSpPr>
        <p:spPr>
          <a:xfrm>
            <a:off x="745033" y="351078"/>
            <a:ext cx="10363826" cy="3424107"/>
          </a:xfrm>
        </p:spPr>
        <p:txBody>
          <a:bodyPr/>
          <a:lstStyle/>
          <a:p>
            <a:pPr marL="0" indent="0" algn="just">
              <a:buNone/>
            </a:pPr>
            <a:r>
              <a:rPr lang="es-US" dirty="0"/>
              <a:t>Para configurar el proyecto en </a:t>
            </a:r>
            <a:r>
              <a:rPr lang="es-US" dirty="0" err="1"/>
              <a:t>IntelliJ</a:t>
            </a:r>
            <a:r>
              <a:rPr lang="es-US" dirty="0"/>
              <a:t> IDEA siguiendo los campos de tus capturas, realiza las siguientes verificaciones e instrucciones paso a paso:</a:t>
            </a:r>
          </a:p>
        </p:txBody>
      </p:sp>
      <p:pic>
        <p:nvPicPr>
          <p:cNvPr id="6" name="Imagen 5">
            <a:extLst>
              <a:ext uri="{FF2B5EF4-FFF2-40B4-BE49-F238E27FC236}">
                <a16:creationId xmlns:a16="http://schemas.microsoft.com/office/drawing/2014/main" id="{F44D3565-B9EE-2236-6906-2E3C12054DCD}"/>
              </a:ext>
            </a:extLst>
          </p:cNvPr>
          <p:cNvPicPr>
            <a:picLocks noChangeAspect="1"/>
          </p:cNvPicPr>
          <p:nvPr/>
        </p:nvPicPr>
        <p:blipFill>
          <a:blip r:embed="rId2"/>
          <a:stretch>
            <a:fillRect/>
          </a:stretch>
        </p:blipFill>
        <p:spPr>
          <a:xfrm>
            <a:off x="8037015" y="2485461"/>
            <a:ext cx="3710318" cy="3428112"/>
          </a:xfrm>
          <a:prstGeom prst="rect">
            <a:avLst/>
          </a:prstGeom>
        </p:spPr>
      </p:pic>
      <p:pic>
        <p:nvPicPr>
          <p:cNvPr id="5" name="Imagen 4">
            <a:extLst>
              <a:ext uri="{FF2B5EF4-FFF2-40B4-BE49-F238E27FC236}">
                <a16:creationId xmlns:a16="http://schemas.microsoft.com/office/drawing/2014/main" id="{CF2EC7C4-EF03-EAD2-0843-70A210AD11C2}"/>
              </a:ext>
            </a:extLst>
          </p:cNvPr>
          <p:cNvPicPr>
            <a:picLocks noChangeAspect="1"/>
          </p:cNvPicPr>
          <p:nvPr/>
        </p:nvPicPr>
        <p:blipFill>
          <a:blip r:embed="rId3"/>
          <a:srcRect l="33881" b="42195"/>
          <a:stretch>
            <a:fillRect/>
          </a:stretch>
        </p:blipFill>
        <p:spPr>
          <a:xfrm>
            <a:off x="8037015" y="1308278"/>
            <a:ext cx="3337880" cy="980054"/>
          </a:xfrm>
          <a:prstGeom prst="rect">
            <a:avLst/>
          </a:prstGeom>
        </p:spPr>
      </p:pic>
      <p:sp>
        <p:nvSpPr>
          <p:cNvPr id="8" name="Marcador de contenido 2">
            <a:extLst>
              <a:ext uri="{FF2B5EF4-FFF2-40B4-BE49-F238E27FC236}">
                <a16:creationId xmlns:a16="http://schemas.microsoft.com/office/drawing/2014/main" id="{1543CFBC-2FF9-900E-2519-372C3921DA45}"/>
              </a:ext>
            </a:extLst>
          </p:cNvPr>
          <p:cNvSpPr txBox="1">
            <a:spLocks/>
          </p:cNvSpPr>
          <p:nvPr/>
        </p:nvSpPr>
        <p:spPr>
          <a:xfrm>
            <a:off x="212962" y="1308278"/>
            <a:ext cx="7362632" cy="5441372"/>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lgn="just">
              <a:buFont typeface="+mj-lt"/>
              <a:buAutoNum type="arabicPeriod"/>
            </a:pPr>
            <a:r>
              <a:rPr lang="es-US" b="1" dirty="0">
                <a:solidFill>
                  <a:srgbClr val="FF0000"/>
                </a:solidFill>
              </a:rPr>
              <a:t>Apertura de la ventana: </a:t>
            </a:r>
            <a:r>
              <a:rPr lang="es-US" dirty="0"/>
              <a:t>En la pantalla de bienvenida, haz clic en el botón New Project (o desde el menú superior: File → New → Project).</a:t>
            </a:r>
          </a:p>
          <a:p>
            <a:pPr marL="457200" indent="-457200" algn="just">
              <a:buFont typeface="+mj-lt"/>
              <a:buAutoNum type="arabicPeriod"/>
            </a:pPr>
            <a:r>
              <a:rPr lang="es-US" b="1" dirty="0">
                <a:solidFill>
                  <a:srgbClr val="FF0000"/>
                </a:solidFill>
              </a:rPr>
              <a:t>Selección de lenguaje: </a:t>
            </a:r>
            <a:r>
              <a:rPr lang="es-US" dirty="0"/>
              <a:t>En el panel lateral izquierdo, asegúrate de tener seleccionado Java.   </a:t>
            </a:r>
          </a:p>
          <a:p>
            <a:pPr marL="457200" indent="-457200" algn="just">
              <a:buFont typeface="+mj-lt"/>
              <a:buAutoNum type="arabicPeriod"/>
            </a:pPr>
            <a:r>
              <a:rPr lang="es-US" b="1" dirty="0">
                <a:solidFill>
                  <a:srgbClr val="FF0000"/>
                </a:solidFill>
              </a:rPr>
              <a:t>Nombre y Ubicación: </a:t>
            </a:r>
            <a:r>
              <a:rPr lang="es-US" dirty="0" err="1"/>
              <a:t>Name</a:t>
            </a:r>
            <a:r>
              <a:rPr lang="es-US" dirty="0"/>
              <a:t>: Ingresa </a:t>
            </a:r>
            <a:r>
              <a:rPr lang="es-US" dirty="0" err="1"/>
              <a:t>CompiladorEducativo</a:t>
            </a:r>
            <a:r>
              <a:rPr lang="es-US" dirty="0"/>
              <a:t>. Y </a:t>
            </a:r>
            <a:r>
              <a:rPr lang="es-US" dirty="0" err="1"/>
              <a:t>Location</a:t>
            </a:r>
            <a:r>
              <a:rPr lang="es-US" dirty="0"/>
              <a:t>: Mantén la ruta por defecto o elige la carpeta donde guardarás tu proyecto.   </a:t>
            </a:r>
          </a:p>
          <a:p>
            <a:pPr marL="457200" indent="-457200" algn="just">
              <a:buFont typeface="+mj-lt"/>
              <a:buAutoNum type="arabicPeriod"/>
            </a:pPr>
            <a:r>
              <a:rPr lang="es-US" b="1" dirty="0">
                <a:solidFill>
                  <a:srgbClr val="FF0000"/>
                </a:solidFill>
              </a:rPr>
              <a:t>Sistema de Construcción y JDK:</a:t>
            </a:r>
            <a:r>
              <a:rPr lang="es-US" dirty="0"/>
              <a:t> </a:t>
            </a:r>
            <a:r>
              <a:rPr lang="es-US" dirty="0" err="1"/>
              <a:t>Build</a:t>
            </a:r>
            <a:r>
              <a:rPr lang="es-US" dirty="0"/>
              <a:t> </a:t>
            </a:r>
            <a:r>
              <a:rPr lang="es-US" dirty="0" err="1"/>
              <a:t>system</a:t>
            </a:r>
            <a:r>
              <a:rPr lang="es-US" dirty="0"/>
              <a:t>: Selecciona la opción </a:t>
            </a:r>
            <a:r>
              <a:rPr lang="es-US" dirty="0" err="1"/>
              <a:t>Maven</a:t>
            </a:r>
            <a:r>
              <a:rPr lang="es-US" dirty="0"/>
              <a:t>. Y JDK: Selecciona versión 17 (en tu captura aparece ms-17 (2) Microsoft </a:t>
            </a:r>
            <a:r>
              <a:rPr lang="es-US" dirty="0" err="1"/>
              <a:t>OpenJDK</a:t>
            </a:r>
            <a:r>
              <a:rPr lang="es-US" dirty="0"/>
              <a:t> 17.0.19).</a:t>
            </a:r>
          </a:p>
          <a:p>
            <a:pPr marL="457200" indent="-457200" algn="just">
              <a:buFont typeface="+mj-lt"/>
              <a:buAutoNum type="arabicPeriod"/>
            </a:pPr>
            <a:r>
              <a:rPr lang="es-US" b="1" dirty="0">
                <a:solidFill>
                  <a:srgbClr val="FF0000"/>
                </a:solidFill>
              </a:rPr>
              <a:t>Ajustes Avanzados (</a:t>
            </a:r>
            <a:r>
              <a:rPr lang="es-US" b="1" dirty="0" err="1">
                <a:solidFill>
                  <a:srgbClr val="FF0000"/>
                </a:solidFill>
              </a:rPr>
              <a:t>Advanced</a:t>
            </a:r>
            <a:r>
              <a:rPr lang="es-US" b="1" dirty="0">
                <a:solidFill>
                  <a:srgbClr val="FF0000"/>
                </a:solidFill>
              </a:rPr>
              <a:t> </a:t>
            </a:r>
            <a:r>
              <a:rPr lang="es-US" b="1" dirty="0" err="1">
                <a:solidFill>
                  <a:srgbClr val="FF0000"/>
                </a:solidFill>
              </a:rPr>
              <a:t>Settings</a:t>
            </a:r>
            <a:r>
              <a:rPr lang="es-US" b="1" dirty="0">
                <a:solidFill>
                  <a:srgbClr val="FF0000"/>
                </a:solidFill>
              </a:rPr>
              <a:t>):</a:t>
            </a:r>
            <a:r>
              <a:rPr lang="es-US" dirty="0"/>
              <a:t> Haz clic para desplegar la sección </a:t>
            </a:r>
            <a:r>
              <a:rPr lang="es-US" dirty="0" err="1"/>
              <a:t>Advanced</a:t>
            </a:r>
            <a:r>
              <a:rPr lang="es-US" dirty="0"/>
              <a:t> </a:t>
            </a:r>
            <a:r>
              <a:rPr lang="es-US" dirty="0" err="1"/>
              <a:t>Settings</a:t>
            </a:r>
            <a:r>
              <a:rPr lang="es-US" dirty="0"/>
              <a:t>. </a:t>
            </a:r>
            <a:r>
              <a:rPr lang="es-US" dirty="0" err="1"/>
              <a:t>GroupId</a:t>
            </a:r>
            <a:r>
              <a:rPr lang="es-US" dirty="0"/>
              <a:t>: Cambia </a:t>
            </a:r>
            <a:r>
              <a:rPr lang="es-US" dirty="0" err="1"/>
              <a:t>com.compiladores</a:t>
            </a:r>
            <a:r>
              <a:rPr lang="es-US" dirty="0"/>
              <a:t> a </a:t>
            </a:r>
            <a:r>
              <a:rPr lang="es-US" dirty="0" err="1"/>
              <a:t>com.compilador</a:t>
            </a:r>
            <a:r>
              <a:rPr lang="es-US" dirty="0"/>
              <a:t> (para alinearlo exacto con tus instrucciones). </a:t>
            </a:r>
            <a:r>
              <a:rPr lang="es-US" dirty="0" err="1"/>
              <a:t>ArtifactId</a:t>
            </a:r>
            <a:r>
              <a:rPr lang="es-US" dirty="0"/>
              <a:t>: Cambia compilador-educativo a educativo (o mantén compilador-educativo si prefieres la convención estándar con guiones).</a:t>
            </a:r>
          </a:p>
          <a:p>
            <a:pPr marL="457200" indent="-457200" algn="just">
              <a:buFont typeface="+mj-lt"/>
              <a:buAutoNum type="arabicPeriod"/>
            </a:pPr>
            <a:r>
              <a:rPr lang="es-US" b="1" dirty="0">
                <a:solidFill>
                  <a:srgbClr val="FF0000"/>
                </a:solidFill>
              </a:rPr>
              <a:t>Finalizar:</a:t>
            </a:r>
            <a:r>
              <a:rPr lang="es-US" dirty="0"/>
              <a:t> Haz clic en el botón azul </a:t>
            </a:r>
            <a:r>
              <a:rPr lang="es-US" dirty="0" err="1"/>
              <a:t>Create</a:t>
            </a:r>
            <a:r>
              <a:rPr lang="es-US" dirty="0"/>
              <a:t> ubicado en la esquina inferior derecha para generar la estructura del proyecto.</a:t>
            </a:r>
          </a:p>
        </p:txBody>
      </p:sp>
    </p:spTree>
    <p:extLst>
      <p:ext uri="{BB962C8B-B14F-4D97-AF65-F5344CB8AC3E}">
        <p14:creationId xmlns:p14="http://schemas.microsoft.com/office/powerpoint/2010/main" val="2505310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792A3F0-B285-EF08-12BF-01C86FDBBFDD}"/>
              </a:ext>
            </a:extLst>
          </p:cNvPr>
          <p:cNvSpPr>
            <a:spLocks noGrp="1"/>
          </p:cNvSpPr>
          <p:nvPr>
            <p:ph sz="quarter" idx="13"/>
          </p:nvPr>
        </p:nvSpPr>
        <p:spPr>
          <a:xfrm>
            <a:off x="88811" y="4258772"/>
            <a:ext cx="5366571" cy="1860320"/>
          </a:xfrm>
        </p:spPr>
        <p:txBody>
          <a:bodyPr>
            <a:normAutofit/>
          </a:bodyPr>
          <a:lstStyle/>
          <a:p>
            <a:pPr marL="457200" indent="-457200" algn="just">
              <a:buAutoNum type="arabicPeriod" startAt="2"/>
            </a:pPr>
            <a:r>
              <a:rPr lang="es-US" dirty="0"/>
              <a:t>El contenido completo del archivo </a:t>
            </a:r>
            <a:r>
              <a:rPr lang="es-US" dirty="0" err="1"/>
              <a:t>pom.xml</a:t>
            </a:r>
            <a:r>
              <a:rPr lang="es-US" dirty="0"/>
              <a:t> estructurado exactamente como aparece en tus capturas de pantalla.</a:t>
            </a:r>
          </a:p>
        </p:txBody>
      </p:sp>
      <p:pic>
        <p:nvPicPr>
          <p:cNvPr id="6" name="Imagen 5">
            <a:extLst>
              <a:ext uri="{FF2B5EF4-FFF2-40B4-BE49-F238E27FC236}">
                <a16:creationId xmlns:a16="http://schemas.microsoft.com/office/drawing/2014/main" id="{8D4545A8-DBB3-50DF-D139-D397A993E687}"/>
              </a:ext>
            </a:extLst>
          </p:cNvPr>
          <p:cNvPicPr>
            <a:picLocks noChangeAspect="1"/>
          </p:cNvPicPr>
          <p:nvPr/>
        </p:nvPicPr>
        <p:blipFill>
          <a:blip r:embed="rId2"/>
          <a:stretch>
            <a:fillRect/>
          </a:stretch>
        </p:blipFill>
        <p:spPr>
          <a:xfrm>
            <a:off x="343602" y="205154"/>
            <a:ext cx="3298643" cy="3428112"/>
          </a:xfrm>
          <a:prstGeom prst="rect">
            <a:avLst/>
          </a:prstGeom>
        </p:spPr>
      </p:pic>
      <p:pic>
        <p:nvPicPr>
          <p:cNvPr id="15" name="Imagen 14">
            <a:extLst>
              <a:ext uri="{FF2B5EF4-FFF2-40B4-BE49-F238E27FC236}">
                <a16:creationId xmlns:a16="http://schemas.microsoft.com/office/drawing/2014/main" id="{09E780F3-C856-8632-CC78-166A93E84E3F}"/>
              </a:ext>
            </a:extLst>
          </p:cNvPr>
          <p:cNvPicPr>
            <a:picLocks noChangeAspect="1"/>
          </p:cNvPicPr>
          <p:nvPr/>
        </p:nvPicPr>
        <p:blipFill>
          <a:blip r:embed="rId3"/>
          <a:stretch>
            <a:fillRect/>
          </a:stretch>
        </p:blipFill>
        <p:spPr>
          <a:xfrm>
            <a:off x="5663984" y="2940538"/>
            <a:ext cx="2885773" cy="3428112"/>
          </a:xfrm>
          <a:prstGeom prst="rect">
            <a:avLst/>
          </a:prstGeom>
        </p:spPr>
      </p:pic>
      <p:pic>
        <p:nvPicPr>
          <p:cNvPr id="18" name="Imagen 17">
            <a:extLst>
              <a:ext uri="{FF2B5EF4-FFF2-40B4-BE49-F238E27FC236}">
                <a16:creationId xmlns:a16="http://schemas.microsoft.com/office/drawing/2014/main" id="{0B5810F7-6648-BABB-0C3C-65686A1448F8}"/>
              </a:ext>
            </a:extLst>
          </p:cNvPr>
          <p:cNvPicPr>
            <a:picLocks noChangeAspect="1"/>
          </p:cNvPicPr>
          <p:nvPr/>
        </p:nvPicPr>
        <p:blipFill>
          <a:blip r:embed="rId4"/>
          <a:stretch>
            <a:fillRect/>
          </a:stretch>
        </p:blipFill>
        <p:spPr>
          <a:xfrm>
            <a:off x="8758359" y="2940538"/>
            <a:ext cx="2885773" cy="3428112"/>
          </a:xfrm>
          <a:prstGeom prst="rect">
            <a:avLst/>
          </a:prstGeom>
        </p:spPr>
      </p:pic>
      <p:sp>
        <p:nvSpPr>
          <p:cNvPr id="20" name="Marcador de contenido 2">
            <a:extLst>
              <a:ext uri="{FF2B5EF4-FFF2-40B4-BE49-F238E27FC236}">
                <a16:creationId xmlns:a16="http://schemas.microsoft.com/office/drawing/2014/main" id="{A09612AB-9505-079C-CA8F-6829E19EC034}"/>
              </a:ext>
            </a:extLst>
          </p:cNvPr>
          <p:cNvSpPr txBox="1">
            <a:spLocks/>
          </p:cNvSpPr>
          <p:nvPr/>
        </p:nvSpPr>
        <p:spPr>
          <a:xfrm>
            <a:off x="3989043" y="849843"/>
            <a:ext cx="8179510" cy="186032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lgn="just">
              <a:buFont typeface="Arial" panose="020B0604020202020204" pitchFamily="34" charset="0"/>
              <a:buAutoNum type="arabicPeriod"/>
            </a:pPr>
            <a:r>
              <a:rPr lang="es-US" dirty="0"/>
              <a:t>Para organizar la estructura exacta de tu proyecto </a:t>
            </a:r>
            <a:r>
              <a:rPr lang="es-US" dirty="0" err="1"/>
              <a:t>CompiladorEducativo</a:t>
            </a:r>
            <a:r>
              <a:rPr lang="es-US" dirty="0"/>
              <a:t> como se observa en la captura de pantalla, crea las carpetas, paquetes y archivos en las siguientes rutas dentro de </a:t>
            </a:r>
            <a:r>
              <a:rPr lang="es-US" dirty="0" err="1"/>
              <a:t>IntelliJ</a:t>
            </a:r>
            <a:r>
              <a:rPr lang="es-US" dirty="0"/>
              <a:t> IDEA.</a:t>
            </a:r>
          </a:p>
        </p:txBody>
      </p:sp>
    </p:spTree>
    <p:extLst>
      <p:ext uri="{BB962C8B-B14F-4D97-AF65-F5344CB8AC3E}">
        <p14:creationId xmlns:p14="http://schemas.microsoft.com/office/powerpoint/2010/main" val="1295753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B6EE417-D8F5-B07E-EC98-8ADF1473FC3E}"/>
              </a:ext>
            </a:extLst>
          </p:cNvPr>
          <p:cNvSpPr>
            <a:spLocks noGrp="1"/>
          </p:cNvSpPr>
          <p:nvPr>
            <p:ph sz="quarter" idx="13"/>
          </p:nvPr>
        </p:nvSpPr>
        <p:spPr>
          <a:xfrm>
            <a:off x="4966118" y="464683"/>
            <a:ext cx="6615011" cy="2339901"/>
          </a:xfrm>
        </p:spPr>
        <p:txBody>
          <a:bodyPr/>
          <a:lstStyle/>
          <a:p>
            <a:pPr marL="457200" indent="-457200" algn="just">
              <a:buAutoNum type="arabicPeriod" startAt="3"/>
            </a:pPr>
            <a:r>
              <a:rPr lang="es-US" dirty="0"/>
              <a:t>El código completo para la clase principal </a:t>
            </a:r>
            <a:r>
              <a:rPr lang="es-US" dirty="0" err="1"/>
              <a:t>CompiladorApplication.java</a:t>
            </a:r>
            <a:r>
              <a:rPr lang="es-US" dirty="0"/>
              <a:t> exacta a la de tu captura de pantalla.</a:t>
            </a:r>
          </a:p>
        </p:txBody>
      </p:sp>
      <p:pic>
        <p:nvPicPr>
          <p:cNvPr id="6" name="Imagen 5">
            <a:extLst>
              <a:ext uri="{FF2B5EF4-FFF2-40B4-BE49-F238E27FC236}">
                <a16:creationId xmlns:a16="http://schemas.microsoft.com/office/drawing/2014/main" id="{AA63FE1A-140D-C79A-39B1-8B04C4BAB8F8}"/>
              </a:ext>
            </a:extLst>
          </p:cNvPr>
          <p:cNvPicPr>
            <a:picLocks noChangeAspect="1"/>
          </p:cNvPicPr>
          <p:nvPr/>
        </p:nvPicPr>
        <p:blipFill>
          <a:blip r:embed="rId2"/>
          <a:srcRect b="47506"/>
          <a:stretch>
            <a:fillRect/>
          </a:stretch>
        </p:blipFill>
        <p:spPr>
          <a:xfrm>
            <a:off x="195212" y="157540"/>
            <a:ext cx="4495591" cy="2798024"/>
          </a:xfrm>
          <a:prstGeom prst="rect">
            <a:avLst/>
          </a:prstGeom>
        </p:spPr>
      </p:pic>
      <p:sp>
        <p:nvSpPr>
          <p:cNvPr id="8" name="Marcador de contenido 2">
            <a:extLst>
              <a:ext uri="{FF2B5EF4-FFF2-40B4-BE49-F238E27FC236}">
                <a16:creationId xmlns:a16="http://schemas.microsoft.com/office/drawing/2014/main" id="{F19E2E4F-8DCA-9D7D-5A43-19EFB9B65B2F}"/>
              </a:ext>
            </a:extLst>
          </p:cNvPr>
          <p:cNvSpPr txBox="1">
            <a:spLocks/>
          </p:cNvSpPr>
          <p:nvPr/>
        </p:nvSpPr>
        <p:spPr>
          <a:xfrm>
            <a:off x="118448" y="3725474"/>
            <a:ext cx="6615011" cy="233990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lgn="just">
              <a:buAutoNum type="arabicPeriod" startAt="4"/>
            </a:pPr>
            <a:r>
              <a:rPr lang="es-US" dirty="0"/>
              <a:t>El código de la clase </a:t>
            </a:r>
            <a:r>
              <a:rPr lang="es-US" dirty="0" err="1"/>
              <a:t>Token.java</a:t>
            </a:r>
            <a:r>
              <a:rPr lang="es-US" dirty="0"/>
              <a:t> replicado exactamente a partir de tu captura de pantalla.</a:t>
            </a:r>
          </a:p>
        </p:txBody>
      </p:sp>
      <p:pic>
        <p:nvPicPr>
          <p:cNvPr id="11" name="Imagen 10">
            <a:extLst>
              <a:ext uri="{FF2B5EF4-FFF2-40B4-BE49-F238E27FC236}">
                <a16:creationId xmlns:a16="http://schemas.microsoft.com/office/drawing/2014/main" id="{560048EE-3387-89BD-EEB7-1D3CE15CAB93}"/>
              </a:ext>
            </a:extLst>
          </p:cNvPr>
          <p:cNvPicPr>
            <a:picLocks noChangeAspect="1"/>
          </p:cNvPicPr>
          <p:nvPr/>
        </p:nvPicPr>
        <p:blipFill>
          <a:blip r:embed="rId3"/>
          <a:stretch>
            <a:fillRect/>
          </a:stretch>
        </p:blipFill>
        <p:spPr>
          <a:xfrm>
            <a:off x="6816808" y="2532897"/>
            <a:ext cx="3229851" cy="3428112"/>
          </a:xfrm>
          <a:prstGeom prst="rect">
            <a:avLst/>
          </a:prstGeom>
        </p:spPr>
      </p:pic>
    </p:spTree>
    <p:extLst>
      <p:ext uri="{BB962C8B-B14F-4D97-AF65-F5344CB8AC3E}">
        <p14:creationId xmlns:p14="http://schemas.microsoft.com/office/powerpoint/2010/main" val="377490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DC7E115-12DB-D8DB-4E98-22BAECCF34BF}"/>
              </a:ext>
            </a:extLst>
          </p:cNvPr>
          <p:cNvSpPr>
            <a:spLocks noGrp="1"/>
          </p:cNvSpPr>
          <p:nvPr>
            <p:ph sz="quarter" idx="13"/>
          </p:nvPr>
        </p:nvSpPr>
        <p:spPr>
          <a:xfrm>
            <a:off x="4671469" y="719904"/>
            <a:ext cx="7238111" cy="2274276"/>
          </a:xfrm>
        </p:spPr>
        <p:txBody>
          <a:bodyPr/>
          <a:lstStyle/>
          <a:p>
            <a:endParaRPr lang="es-US" dirty="0"/>
          </a:p>
          <a:p>
            <a:pPr marL="457200" indent="-457200" algn="just">
              <a:buAutoNum type="arabicPeriod" startAt="5"/>
            </a:pPr>
            <a:r>
              <a:rPr lang="es-US" dirty="0"/>
              <a:t>El código completo de la clase </a:t>
            </a:r>
            <a:r>
              <a:rPr lang="es-US" dirty="0" err="1"/>
              <a:t>Simbolo.java</a:t>
            </a:r>
            <a:r>
              <a:rPr lang="es-US" dirty="0"/>
              <a:t> basado exactamente en tu captura de pantalla.</a:t>
            </a:r>
          </a:p>
          <a:p>
            <a:pPr marL="0" indent="0">
              <a:buNone/>
            </a:pPr>
            <a:endParaRPr lang="es-US" dirty="0"/>
          </a:p>
          <a:p>
            <a:pPr marL="0" indent="0">
              <a:buNone/>
            </a:pPr>
            <a:endParaRPr lang="es-US" dirty="0"/>
          </a:p>
        </p:txBody>
      </p:sp>
      <p:pic>
        <p:nvPicPr>
          <p:cNvPr id="6" name="Imagen 5">
            <a:extLst>
              <a:ext uri="{FF2B5EF4-FFF2-40B4-BE49-F238E27FC236}">
                <a16:creationId xmlns:a16="http://schemas.microsoft.com/office/drawing/2014/main" id="{0E1F80B5-4AD8-EE37-A3BD-E86EF542390F}"/>
              </a:ext>
            </a:extLst>
          </p:cNvPr>
          <p:cNvPicPr>
            <a:picLocks noChangeAspect="1"/>
          </p:cNvPicPr>
          <p:nvPr/>
        </p:nvPicPr>
        <p:blipFill>
          <a:blip r:embed="rId2"/>
          <a:stretch>
            <a:fillRect/>
          </a:stretch>
        </p:blipFill>
        <p:spPr>
          <a:xfrm>
            <a:off x="1328276" y="142986"/>
            <a:ext cx="3229851" cy="3428112"/>
          </a:xfrm>
          <a:prstGeom prst="rect">
            <a:avLst/>
          </a:prstGeom>
        </p:spPr>
      </p:pic>
      <p:sp>
        <p:nvSpPr>
          <p:cNvPr id="8" name="Marcador de contenido 2">
            <a:extLst>
              <a:ext uri="{FF2B5EF4-FFF2-40B4-BE49-F238E27FC236}">
                <a16:creationId xmlns:a16="http://schemas.microsoft.com/office/drawing/2014/main" id="{837784B7-BE79-56E8-C00C-5571139F93AB}"/>
              </a:ext>
            </a:extLst>
          </p:cNvPr>
          <p:cNvSpPr txBox="1">
            <a:spLocks/>
          </p:cNvSpPr>
          <p:nvPr/>
        </p:nvSpPr>
        <p:spPr>
          <a:xfrm>
            <a:off x="0" y="4318179"/>
            <a:ext cx="7238111" cy="227427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lgn="just">
              <a:buAutoNum type="arabicPeriod" startAt="6"/>
            </a:pPr>
            <a:r>
              <a:rPr lang="es-US" dirty="0"/>
              <a:t>El código completo de la clase </a:t>
            </a:r>
            <a:r>
              <a:rPr lang="es-US" dirty="0" err="1"/>
              <a:t>Cuadruplo.java</a:t>
            </a:r>
            <a:r>
              <a:rPr lang="es-US" dirty="0"/>
              <a:t> basado exactamente en tu captura de pantalla.</a:t>
            </a:r>
          </a:p>
          <a:p>
            <a:pPr marL="0" indent="0">
              <a:buFont typeface="Arial" panose="020B0604020202020204" pitchFamily="34" charset="0"/>
              <a:buNone/>
            </a:pPr>
            <a:endParaRPr lang="es-US" dirty="0"/>
          </a:p>
          <a:p>
            <a:pPr marL="0" indent="0">
              <a:buFont typeface="Arial" panose="020B0604020202020204" pitchFamily="34" charset="0"/>
              <a:buNone/>
            </a:pPr>
            <a:endParaRPr lang="es-US" dirty="0"/>
          </a:p>
        </p:txBody>
      </p:sp>
      <p:pic>
        <p:nvPicPr>
          <p:cNvPr id="11" name="Imagen 10">
            <a:extLst>
              <a:ext uri="{FF2B5EF4-FFF2-40B4-BE49-F238E27FC236}">
                <a16:creationId xmlns:a16="http://schemas.microsoft.com/office/drawing/2014/main" id="{9E026DAD-258C-82BF-D5B6-EB232BF43138}"/>
              </a:ext>
            </a:extLst>
          </p:cNvPr>
          <p:cNvPicPr>
            <a:picLocks noChangeAspect="1"/>
          </p:cNvPicPr>
          <p:nvPr/>
        </p:nvPicPr>
        <p:blipFill>
          <a:blip r:embed="rId3"/>
          <a:stretch>
            <a:fillRect/>
          </a:stretch>
        </p:blipFill>
        <p:spPr>
          <a:xfrm>
            <a:off x="7527297" y="2905014"/>
            <a:ext cx="3229851" cy="3428112"/>
          </a:xfrm>
          <a:prstGeom prst="rect">
            <a:avLst/>
          </a:prstGeom>
        </p:spPr>
      </p:pic>
    </p:spTree>
    <p:extLst>
      <p:ext uri="{BB962C8B-B14F-4D97-AF65-F5344CB8AC3E}">
        <p14:creationId xmlns:p14="http://schemas.microsoft.com/office/powerpoint/2010/main" val="4100469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4C3DA21-1D01-92FE-723F-7DF3B7B1D7E4}"/>
              </a:ext>
            </a:extLst>
          </p:cNvPr>
          <p:cNvSpPr>
            <a:spLocks noGrp="1"/>
          </p:cNvSpPr>
          <p:nvPr>
            <p:ph sz="quarter" idx="13"/>
          </p:nvPr>
        </p:nvSpPr>
        <p:spPr>
          <a:xfrm>
            <a:off x="1017778" y="413246"/>
            <a:ext cx="10156447" cy="1842558"/>
          </a:xfrm>
        </p:spPr>
        <p:txBody>
          <a:bodyPr/>
          <a:lstStyle/>
          <a:p>
            <a:pPr marL="457200" indent="-457200" algn="just">
              <a:buAutoNum type="arabicPeriod" startAt="7"/>
            </a:pPr>
            <a:r>
              <a:rPr lang="es-US" dirty="0"/>
              <a:t>El código completo de la clase </a:t>
            </a:r>
            <a:r>
              <a:rPr lang="es-US" dirty="0" err="1"/>
              <a:t>Resultado.java</a:t>
            </a:r>
            <a:r>
              <a:rPr lang="es-US" dirty="0"/>
              <a:t> reconstruido exactamente a partir de tus tres capturas de pantalla.</a:t>
            </a:r>
          </a:p>
          <a:p>
            <a:pPr marL="0" indent="0" algn="just">
              <a:buNone/>
            </a:pPr>
            <a:endParaRPr lang="es-US" dirty="0"/>
          </a:p>
        </p:txBody>
      </p:sp>
      <p:pic>
        <p:nvPicPr>
          <p:cNvPr id="6" name="Imagen 5">
            <a:extLst>
              <a:ext uri="{FF2B5EF4-FFF2-40B4-BE49-F238E27FC236}">
                <a16:creationId xmlns:a16="http://schemas.microsoft.com/office/drawing/2014/main" id="{0D5B0C5A-9C90-680B-1D68-DB1CAA24AE08}"/>
              </a:ext>
            </a:extLst>
          </p:cNvPr>
          <p:cNvPicPr>
            <a:picLocks noChangeAspect="1"/>
          </p:cNvPicPr>
          <p:nvPr/>
        </p:nvPicPr>
        <p:blipFill>
          <a:blip r:embed="rId2"/>
          <a:stretch>
            <a:fillRect/>
          </a:stretch>
        </p:blipFill>
        <p:spPr>
          <a:xfrm>
            <a:off x="147087" y="1475152"/>
            <a:ext cx="3947108" cy="4661697"/>
          </a:xfrm>
          <a:prstGeom prst="rect">
            <a:avLst/>
          </a:prstGeom>
        </p:spPr>
      </p:pic>
      <p:pic>
        <p:nvPicPr>
          <p:cNvPr id="9" name="Imagen 8">
            <a:extLst>
              <a:ext uri="{FF2B5EF4-FFF2-40B4-BE49-F238E27FC236}">
                <a16:creationId xmlns:a16="http://schemas.microsoft.com/office/drawing/2014/main" id="{E003C129-9EAE-2761-13B4-AEB953C9E4E5}"/>
              </a:ext>
            </a:extLst>
          </p:cNvPr>
          <p:cNvPicPr>
            <a:picLocks noChangeAspect="1"/>
          </p:cNvPicPr>
          <p:nvPr/>
        </p:nvPicPr>
        <p:blipFill>
          <a:blip r:embed="rId3"/>
          <a:stretch>
            <a:fillRect/>
          </a:stretch>
        </p:blipFill>
        <p:spPr>
          <a:xfrm>
            <a:off x="4122446" y="1475152"/>
            <a:ext cx="3947108" cy="4661698"/>
          </a:xfrm>
          <a:prstGeom prst="rect">
            <a:avLst/>
          </a:prstGeom>
        </p:spPr>
      </p:pic>
      <p:pic>
        <p:nvPicPr>
          <p:cNvPr id="12" name="Imagen 11">
            <a:extLst>
              <a:ext uri="{FF2B5EF4-FFF2-40B4-BE49-F238E27FC236}">
                <a16:creationId xmlns:a16="http://schemas.microsoft.com/office/drawing/2014/main" id="{A1265769-0C81-3819-9FB5-0A8888F4A735}"/>
              </a:ext>
            </a:extLst>
          </p:cNvPr>
          <p:cNvPicPr>
            <a:picLocks noChangeAspect="1"/>
          </p:cNvPicPr>
          <p:nvPr/>
        </p:nvPicPr>
        <p:blipFill>
          <a:blip r:embed="rId4"/>
          <a:stretch>
            <a:fillRect/>
          </a:stretch>
        </p:blipFill>
        <p:spPr>
          <a:xfrm>
            <a:off x="8097807" y="1475152"/>
            <a:ext cx="3947108" cy="4661699"/>
          </a:xfrm>
          <a:prstGeom prst="rect">
            <a:avLst/>
          </a:prstGeom>
        </p:spPr>
      </p:pic>
    </p:spTree>
    <p:extLst>
      <p:ext uri="{BB962C8B-B14F-4D97-AF65-F5344CB8AC3E}">
        <p14:creationId xmlns:p14="http://schemas.microsoft.com/office/powerpoint/2010/main" val="2434266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3F8DD4C-F8E7-2B1E-DE51-17A31325E231}"/>
              </a:ext>
            </a:extLst>
          </p:cNvPr>
          <p:cNvSpPr>
            <a:spLocks noGrp="1"/>
          </p:cNvSpPr>
          <p:nvPr>
            <p:ph sz="quarter" idx="13"/>
          </p:nvPr>
        </p:nvSpPr>
        <p:spPr>
          <a:xfrm>
            <a:off x="914087" y="484295"/>
            <a:ext cx="10363826" cy="3424107"/>
          </a:xfrm>
        </p:spPr>
        <p:txBody>
          <a:bodyPr/>
          <a:lstStyle/>
          <a:p>
            <a:pPr marL="457200" indent="-457200">
              <a:buAutoNum type="arabicPeriod" startAt="8"/>
            </a:pPr>
            <a:r>
              <a:rPr lang="es-US" dirty="0"/>
              <a:t>El código de la clase </a:t>
            </a:r>
            <a:r>
              <a:rPr lang="es-US" dirty="0" err="1"/>
              <a:t>CompiladorService.java</a:t>
            </a:r>
            <a:r>
              <a:rPr lang="es-US" dirty="0"/>
              <a:t> extractado directamente de las imágenes proporcionadas.</a:t>
            </a:r>
          </a:p>
          <a:p>
            <a:pPr marL="0" indent="0">
              <a:buNone/>
            </a:pPr>
            <a:endParaRPr lang="es-US" dirty="0"/>
          </a:p>
          <a:p>
            <a:pPr marL="0" indent="0">
              <a:buNone/>
            </a:pPr>
            <a:endParaRPr lang="es-US" dirty="0"/>
          </a:p>
        </p:txBody>
      </p:sp>
      <p:pic>
        <p:nvPicPr>
          <p:cNvPr id="6" name="Imagen 5">
            <a:extLst>
              <a:ext uri="{FF2B5EF4-FFF2-40B4-BE49-F238E27FC236}">
                <a16:creationId xmlns:a16="http://schemas.microsoft.com/office/drawing/2014/main" id="{4E4C4D98-EFEE-F649-C465-3A21A0C6C305}"/>
              </a:ext>
            </a:extLst>
          </p:cNvPr>
          <p:cNvPicPr>
            <a:picLocks noChangeAspect="1"/>
          </p:cNvPicPr>
          <p:nvPr/>
        </p:nvPicPr>
        <p:blipFill>
          <a:blip r:embed="rId2"/>
          <a:stretch>
            <a:fillRect/>
          </a:stretch>
        </p:blipFill>
        <p:spPr>
          <a:xfrm>
            <a:off x="378690" y="1519559"/>
            <a:ext cx="3229851" cy="3428112"/>
          </a:xfrm>
          <a:prstGeom prst="rect">
            <a:avLst/>
          </a:prstGeom>
        </p:spPr>
      </p:pic>
      <p:pic>
        <p:nvPicPr>
          <p:cNvPr id="9" name="Imagen 8">
            <a:extLst>
              <a:ext uri="{FF2B5EF4-FFF2-40B4-BE49-F238E27FC236}">
                <a16:creationId xmlns:a16="http://schemas.microsoft.com/office/drawing/2014/main" id="{C7E8272E-9459-B831-1B6A-47ED6509838F}"/>
              </a:ext>
            </a:extLst>
          </p:cNvPr>
          <p:cNvPicPr>
            <a:picLocks noChangeAspect="1"/>
          </p:cNvPicPr>
          <p:nvPr/>
        </p:nvPicPr>
        <p:blipFill>
          <a:blip r:embed="rId3"/>
          <a:stretch>
            <a:fillRect/>
          </a:stretch>
        </p:blipFill>
        <p:spPr>
          <a:xfrm>
            <a:off x="4143938" y="1547090"/>
            <a:ext cx="3229851" cy="3428112"/>
          </a:xfrm>
          <a:prstGeom prst="rect">
            <a:avLst/>
          </a:prstGeom>
        </p:spPr>
      </p:pic>
      <p:pic>
        <p:nvPicPr>
          <p:cNvPr id="12" name="Imagen 11">
            <a:extLst>
              <a:ext uri="{FF2B5EF4-FFF2-40B4-BE49-F238E27FC236}">
                <a16:creationId xmlns:a16="http://schemas.microsoft.com/office/drawing/2014/main" id="{BD24D941-63F2-2C90-120C-35D5C9C83F5C}"/>
              </a:ext>
            </a:extLst>
          </p:cNvPr>
          <p:cNvPicPr>
            <a:picLocks noChangeAspect="1"/>
          </p:cNvPicPr>
          <p:nvPr/>
        </p:nvPicPr>
        <p:blipFill>
          <a:blip r:embed="rId4"/>
          <a:stretch>
            <a:fillRect/>
          </a:stretch>
        </p:blipFill>
        <p:spPr>
          <a:xfrm>
            <a:off x="7909186" y="1547090"/>
            <a:ext cx="3229851" cy="3428112"/>
          </a:xfrm>
          <a:prstGeom prst="rect">
            <a:avLst/>
          </a:prstGeom>
        </p:spPr>
      </p:pic>
    </p:spTree>
    <p:extLst>
      <p:ext uri="{BB962C8B-B14F-4D97-AF65-F5344CB8AC3E}">
        <p14:creationId xmlns:p14="http://schemas.microsoft.com/office/powerpoint/2010/main" val="4246206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8EF6501B-52CC-F50C-70EB-475008B9516D}"/>
              </a:ext>
            </a:extLst>
          </p:cNvPr>
          <p:cNvPicPr>
            <a:picLocks noChangeAspect="1"/>
          </p:cNvPicPr>
          <p:nvPr/>
        </p:nvPicPr>
        <p:blipFill>
          <a:blip r:embed="rId2"/>
          <a:stretch>
            <a:fillRect/>
          </a:stretch>
        </p:blipFill>
        <p:spPr>
          <a:xfrm>
            <a:off x="608906" y="125223"/>
            <a:ext cx="3229851" cy="3428112"/>
          </a:xfrm>
          <a:prstGeom prst="rect">
            <a:avLst/>
          </a:prstGeom>
        </p:spPr>
      </p:pic>
      <p:pic>
        <p:nvPicPr>
          <p:cNvPr id="9" name="Imagen 8">
            <a:extLst>
              <a:ext uri="{FF2B5EF4-FFF2-40B4-BE49-F238E27FC236}">
                <a16:creationId xmlns:a16="http://schemas.microsoft.com/office/drawing/2014/main" id="{4910A168-A191-1950-6C1A-28A0679B6C1F}"/>
              </a:ext>
            </a:extLst>
          </p:cNvPr>
          <p:cNvPicPr>
            <a:picLocks noChangeAspect="1"/>
          </p:cNvPicPr>
          <p:nvPr/>
        </p:nvPicPr>
        <p:blipFill>
          <a:blip r:embed="rId3"/>
          <a:stretch>
            <a:fillRect/>
          </a:stretch>
        </p:blipFill>
        <p:spPr>
          <a:xfrm>
            <a:off x="4285689" y="125223"/>
            <a:ext cx="3229851" cy="3428112"/>
          </a:xfrm>
          <a:prstGeom prst="rect">
            <a:avLst/>
          </a:prstGeom>
        </p:spPr>
      </p:pic>
      <p:pic>
        <p:nvPicPr>
          <p:cNvPr id="12" name="Imagen 11">
            <a:extLst>
              <a:ext uri="{FF2B5EF4-FFF2-40B4-BE49-F238E27FC236}">
                <a16:creationId xmlns:a16="http://schemas.microsoft.com/office/drawing/2014/main" id="{26C5AD7B-44DB-A2DA-5EF8-D64EBCBD3087}"/>
              </a:ext>
            </a:extLst>
          </p:cNvPr>
          <p:cNvPicPr>
            <a:picLocks noChangeAspect="1"/>
          </p:cNvPicPr>
          <p:nvPr/>
        </p:nvPicPr>
        <p:blipFill>
          <a:blip r:embed="rId4"/>
          <a:stretch>
            <a:fillRect/>
          </a:stretch>
        </p:blipFill>
        <p:spPr>
          <a:xfrm>
            <a:off x="7962472" y="125223"/>
            <a:ext cx="3229851" cy="3428112"/>
          </a:xfrm>
          <a:prstGeom prst="rect">
            <a:avLst/>
          </a:prstGeom>
        </p:spPr>
      </p:pic>
      <p:pic>
        <p:nvPicPr>
          <p:cNvPr id="15" name="Imagen 14">
            <a:extLst>
              <a:ext uri="{FF2B5EF4-FFF2-40B4-BE49-F238E27FC236}">
                <a16:creationId xmlns:a16="http://schemas.microsoft.com/office/drawing/2014/main" id="{9C8BC83C-96D0-66AA-7A0B-26994AF36625}"/>
              </a:ext>
            </a:extLst>
          </p:cNvPr>
          <p:cNvPicPr>
            <a:picLocks noChangeAspect="1"/>
          </p:cNvPicPr>
          <p:nvPr/>
        </p:nvPicPr>
        <p:blipFill>
          <a:blip r:embed="rId5"/>
          <a:stretch>
            <a:fillRect/>
          </a:stretch>
        </p:blipFill>
        <p:spPr>
          <a:xfrm>
            <a:off x="608906" y="3827762"/>
            <a:ext cx="3229851" cy="2780678"/>
          </a:xfrm>
          <a:prstGeom prst="rect">
            <a:avLst/>
          </a:prstGeom>
        </p:spPr>
      </p:pic>
      <p:pic>
        <p:nvPicPr>
          <p:cNvPr id="18" name="Imagen 17">
            <a:extLst>
              <a:ext uri="{FF2B5EF4-FFF2-40B4-BE49-F238E27FC236}">
                <a16:creationId xmlns:a16="http://schemas.microsoft.com/office/drawing/2014/main" id="{EDF2E3A0-B2AC-D160-CB50-2C3C989FCCC2}"/>
              </a:ext>
            </a:extLst>
          </p:cNvPr>
          <p:cNvPicPr>
            <a:picLocks noChangeAspect="1"/>
          </p:cNvPicPr>
          <p:nvPr/>
        </p:nvPicPr>
        <p:blipFill>
          <a:blip r:embed="rId6"/>
          <a:stretch>
            <a:fillRect/>
          </a:stretch>
        </p:blipFill>
        <p:spPr>
          <a:xfrm>
            <a:off x="4285688" y="3889930"/>
            <a:ext cx="3229851" cy="2718510"/>
          </a:xfrm>
          <a:prstGeom prst="rect">
            <a:avLst/>
          </a:prstGeom>
        </p:spPr>
      </p:pic>
      <p:pic>
        <p:nvPicPr>
          <p:cNvPr id="21" name="Imagen 20">
            <a:extLst>
              <a:ext uri="{FF2B5EF4-FFF2-40B4-BE49-F238E27FC236}">
                <a16:creationId xmlns:a16="http://schemas.microsoft.com/office/drawing/2014/main" id="{D6A8E44F-32FF-493B-4978-EC42914F77D2}"/>
              </a:ext>
            </a:extLst>
          </p:cNvPr>
          <p:cNvPicPr>
            <a:picLocks noChangeAspect="1"/>
          </p:cNvPicPr>
          <p:nvPr/>
        </p:nvPicPr>
        <p:blipFill>
          <a:blip r:embed="rId7"/>
          <a:stretch>
            <a:fillRect/>
          </a:stretch>
        </p:blipFill>
        <p:spPr>
          <a:xfrm>
            <a:off x="7962472" y="3889930"/>
            <a:ext cx="3229851" cy="2656342"/>
          </a:xfrm>
          <a:prstGeom prst="rect">
            <a:avLst/>
          </a:prstGeom>
        </p:spPr>
      </p:pic>
    </p:spTree>
    <p:extLst>
      <p:ext uri="{BB962C8B-B14F-4D97-AF65-F5344CB8AC3E}">
        <p14:creationId xmlns:p14="http://schemas.microsoft.com/office/powerpoint/2010/main" val="1760119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9E292797-21BD-F243-031B-33372BC4265F}"/>
              </a:ext>
            </a:extLst>
          </p:cNvPr>
          <p:cNvPicPr>
            <a:picLocks noChangeAspect="1"/>
          </p:cNvPicPr>
          <p:nvPr/>
        </p:nvPicPr>
        <p:blipFill>
          <a:blip r:embed="rId2"/>
          <a:stretch>
            <a:fillRect/>
          </a:stretch>
        </p:blipFill>
        <p:spPr>
          <a:xfrm>
            <a:off x="404640" y="116342"/>
            <a:ext cx="3229851" cy="3428112"/>
          </a:xfrm>
          <a:prstGeom prst="rect">
            <a:avLst/>
          </a:prstGeom>
        </p:spPr>
      </p:pic>
      <p:pic>
        <p:nvPicPr>
          <p:cNvPr id="9" name="Imagen 8">
            <a:extLst>
              <a:ext uri="{FF2B5EF4-FFF2-40B4-BE49-F238E27FC236}">
                <a16:creationId xmlns:a16="http://schemas.microsoft.com/office/drawing/2014/main" id="{5D963D81-6832-0C56-E70B-BE2C4DD39CC8}"/>
              </a:ext>
            </a:extLst>
          </p:cNvPr>
          <p:cNvPicPr>
            <a:picLocks noChangeAspect="1"/>
          </p:cNvPicPr>
          <p:nvPr/>
        </p:nvPicPr>
        <p:blipFill>
          <a:blip r:embed="rId3"/>
          <a:stretch>
            <a:fillRect/>
          </a:stretch>
        </p:blipFill>
        <p:spPr>
          <a:xfrm>
            <a:off x="4170235" y="116342"/>
            <a:ext cx="3229851" cy="3428112"/>
          </a:xfrm>
          <a:prstGeom prst="rect">
            <a:avLst/>
          </a:prstGeom>
        </p:spPr>
      </p:pic>
      <p:pic>
        <p:nvPicPr>
          <p:cNvPr id="12" name="Imagen 11">
            <a:extLst>
              <a:ext uri="{FF2B5EF4-FFF2-40B4-BE49-F238E27FC236}">
                <a16:creationId xmlns:a16="http://schemas.microsoft.com/office/drawing/2014/main" id="{E833F076-A394-B156-A6F7-9D5F70FDFE11}"/>
              </a:ext>
            </a:extLst>
          </p:cNvPr>
          <p:cNvPicPr>
            <a:picLocks noChangeAspect="1"/>
          </p:cNvPicPr>
          <p:nvPr/>
        </p:nvPicPr>
        <p:blipFill>
          <a:blip r:embed="rId4"/>
          <a:stretch>
            <a:fillRect/>
          </a:stretch>
        </p:blipFill>
        <p:spPr>
          <a:xfrm>
            <a:off x="7935830" y="116342"/>
            <a:ext cx="3229851" cy="3428112"/>
          </a:xfrm>
          <a:prstGeom prst="rect">
            <a:avLst/>
          </a:prstGeom>
        </p:spPr>
      </p:pic>
      <p:pic>
        <p:nvPicPr>
          <p:cNvPr id="15" name="Imagen 14">
            <a:extLst>
              <a:ext uri="{FF2B5EF4-FFF2-40B4-BE49-F238E27FC236}">
                <a16:creationId xmlns:a16="http://schemas.microsoft.com/office/drawing/2014/main" id="{4116C3BF-A66A-4B40-E33F-43A23815BC85}"/>
              </a:ext>
            </a:extLst>
          </p:cNvPr>
          <p:cNvPicPr>
            <a:picLocks noChangeAspect="1"/>
          </p:cNvPicPr>
          <p:nvPr/>
        </p:nvPicPr>
        <p:blipFill>
          <a:blip r:embed="rId5"/>
          <a:stretch>
            <a:fillRect/>
          </a:stretch>
        </p:blipFill>
        <p:spPr>
          <a:xfrm>
            <a:off x="404639" y="3774476"/>
            <a:ext cx="3229851" cy="2967182"/>
          </a:xfrm>
          <a:prstGeom prst="rect">
            <a:avLst/>
          </a:prstGeom>
        </p:spPr>
      </p:pic>
      <p:pic>
        <p:nvPicPr>
          <p:cNvPr id="18" name="Imagen 17">
            <a:extLst>
              <a:ext uri="{FF2B5EF4-FFF2-40B4-BE49-F238E27FC236}">
                <a16:creationId xmlns:a16="http://schemas.microsoft.com/office/drawing/2014/main" id="{C1BA8CC9-F0C0-50A8-3682-218B21806750}"/>
              </a:ext>
            </a:extLst>
          </p:cNvPr>
          <p:cNvPicPr>
            <a:picLocks noChangeAspect="1"/>
          </p:cNvPicPr>
          <p:nvPr/>
        </p:nvPicPr>
        <p:blipFill>
          <a:blip r:embed="rId6"/>
          <a:stretch>
            <a:fillRect/>
          </a:stretch>
        </p:blipFill>
        <p:spPr>
          <a:xfrm>
            <a:off x="4170234" y="3774475"/>
            <a:ext cx="3229851" cy="3039119"/>
          </a:xfrm>
          <a:prstGeom prst="rect">
            <a:avLst/>
          </a:prstGeom>
        </p:spPr>
      </p:pic>
      <p:pic>
        <p:nvPicPr>
          <p:cNvPr id="21" name="Imagen 20">
            <a:extLst>
              <a:ext uri="{FF2B5EF4-FFF2-40B4-BE49-F238E27FC236}">
                <a16:creationId xmlns:a16="http://schemas.microsoft.com/office/drawing/2014/main" id="{20DCAE41-957C-AF57-3E1A-9283E3B33334}"/>
              </a:ext>
            </a:extLst>
          </p:cNvPr>
          <p:cNvPicPr>
            <a:picLocks noChangeAspect="1"/>
          </p:cNvPicPr>
          <p:nvPr/>
        </p:nvPicPr>
        <p:blipFill>
          <a:blip r:embed="rId7"/>
          <a:stretch>
            <a:fillRect/>
          </a:stretch>
        </p:blipFill>
        <p:spPr>
          <a:xfrm>
            <a:off x="7935829" y="3774474"/>
            <a:ext cx="3229851" cy="2967183"/>
          </a:xfrm>
          <a:prstGeom prst="rect">
            <a:avLst/>
          </a:prstGeom>
        </p:spPr>
      </p:pic>
    </p:spTree>
    <p:extLst>
      <p:ext uri="{BB962C8B-B14F-4D97-AF65-F5344CB8AC3E}">
        <p14:creationId xmlns:p14="http://schemas.microsoft.com/office/powerpoint/2010/main" val="1973366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46D47060-C01C-1375-B378-31AFB497AB1C}"/>
              </a:ext>
            </a:extLst>
          </p:cNvPr>
          <p:cNvPicPr>
            <a:picLocks noChangeAspect="1"/>
          </p:cNvPicPr>
          <p:nvPr/>
        </p:nvPicPr>
        <p:blipFill>
          <a:blip r:embed="rId2"/>
          <a:stretch>
            <a:fillRect/>
          </a:stretch>
        </p:blipFill>
        <p:spPr>
          <a:xfrm>
            <a:off x="955269" y="107462"/>
            <a:ext cx="3229851" cy="3428112"/>
          </a:xfrm>
          <a:prstGeom prst="rect">
            <a:avLst/>
          </a:prstGeom>
        </p:spPr>
      </p:pic>
      <p:pic>
        <p:nvPicPr>
          <p:cNvPr id="9" name="Imagen 8">
            <a:extLst>
              <a:ext uri="{FF2B5EF4-FFF2-40B4-BE49-F238E27FC236}">
                <a16:creationId xmlns:a16="http://schemas.microsoft.com/office/drawing/2014/main" id="{301F1D54-E879-8FC2-5CBB-1C081121373B}"/>
              </a:ext>
            </a:extLst>
          </p:cNvPr>
          <p:cNvPicPr>
            <a:picLocks noChangeAspect="1"/>
          </p:cNvPicPr>
          <p:nvPr/>
        </p:nvPicPr>
        <p:blipFill>
          <a:blip r:embed="rId3"/>
          <a:stretch>
            <a:fillRect/>
          </a:stretch>
        </p:blipFill>
        <p:spPr>
          <a:xfrm>
            <a:off x="4676458" y="107462"/>
            <a:ext cx="3229851" cy="3428112"/>
          </a:xfrm>
          <a:prstGeom prst="rect">
            <a:avLst/>
          </a:prstGeom>
        </p:spPr>
      </p:pic>
      <p:pic>
        <p:nvPicPr>
          <p:cNvPr id="12" name="Imagen 11">
            <a:extLst>
              <a:ext uri="{FF2B5EF4-FFF2-40B4-BE49-F238E27FC236}">
                <a16:creationId xmlns:a16="http://schemas.microsoft.com/office/drawing/2014/main" id="{F5887B39-BE26-1C04-BC9A-4417E599E7A4}"/>
              </a:ext>
            </a:extLst>
          </p:cNvPr>
          <p:cNvPicPr>
            <a:picLocks noChangeAspect="1"/>
          </p:cNvPicPr>
          <p:nvPr/>
        </p:nvPicPr>
        <p:blipFill>
          <a:blip r:embed="rId4"/>
          <a:stretch>
            <a:fillRect/>
          </a:stretch>
        </p:blipFill>
        <p:spPr>
          <a:xfrm>
            <a:off x="8397647" y="107462"/>
            <a:ext cx="3229851" cy="3428112"/>
          </a:xfrm>
          <a:prstGeom prst="rect">
            <a:avLst/>
          </a:prstGeom>
        </p:spPr>
      </p:pic>
      <p:pic>
        <p:nvPicPr>
          <p:cNvPr id="15" name="Imagen 14">
            <a:extLst>
              <a:ext uri="{FF2B5EF4-FFF2-40B4-BE49-F238E27FC236}">
                <a16:creationId xmlns:a16="http://schemas.microsoft.com/office/drawing/2014/main" id="{040030B0-BAF5-F5BB-8707-11C63189C7A6}"/>
              </a:ext>
            </a:extLst>
          </p:cNvPr>
          <p:cNvPicPr>
            <a:picLocks noChangeAspect="1"/>
          </p:cNvPicPr>
          <p:nvPr/>
        </p:nvPicPr>
        <p:blipFill>
          <a:blip r:embed="rId5"/>
          <a:stretch>
            <a:fillRect/>
          </a:stretch>
        </p:blipFill>
        <p:spPr>
          <a:xfrm>
            <a:off x="4724414" y="3703427"/>
            <a:ext cx="3229851" cy="3003594"/>
          </a:xfrm>
          <a:prstGeom prst="rect">
            <a:avLst/>
          </a:prstGeom>
        </p:spPr>
      </p:pic>
    </p:spTree>
    <p:extLst>
      <p:ext uri="{BB962C8B-B14F-4D97-AF65-F5344CB8AC3E}">
        <p14:creationId xmlns:p14="http://schemas.microsoft.com/office/powerpoint/2010/main" val="1033207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382783C-BA9F-18A6-53F9-3DEFA24E44EA}"/>
              </a:ext>
            </a:extLst>
          </p:cNvPr>
          <p:cNvSpPr>
            <a:spLocks noGrp="1"/>
          </p:cNvSpPr>
          <p:nvPr>
            <p:ph sz="quarter" idx="13"/>
          </p:nvPr>
        </p:nvSpPr>
        <p:spPr>
          <a:xfrm>
            <a:off x="4751397" y="954995"/>
            <a:ext cx="7175945" cy="1398502"/>
          </a:xfrm>
        </p:spPr>
        <p:txBody>
          <a:bodyPr/>
          <a:lstStyle/>
          <a:p>
            <a:pPr marL="457200" indent="-457200" algn="just">
              <a:buAutoNum type="arabicPeriod" startAt="9"/>
            </a:pPr>
            <a:r>
              <a:rPr lang="es-US" dirty="0"/>
              <a:t>El código completo de la clase </a:t>
            </a:r>
            <a:r>
              <a:rPr lang="es-US" dirty="0" err="1"/>
              <a:t>CompiladorController.java</a:t>
            </a:r>
            <a:r>
              <a:rPr lang="es-US" dirty="0"/>
              <a:t> extraído de las capturas de pantalla.</a:t>
            </a:r>
          </a:p>
          <a:p>
            <a:pPr marL="0" indent="0">
              <a:buNone/>
            </a:pPr>
            <a:endParaRPr lang="es-US" dirty="0"/>
          </a:p>
          <a:p>
            <a:pPr marL="0" indent="0">
              <a:buNone/>
            </a:pPr>
            <a:endParaRPr lang="es-US" dirty="0"/>
          </a:p>
        </p:txBody>
      </p:sp>
      <p:pic>
        <p:nvPicPr>
          <p:cNvPr id="6" name="Imagen 5">
            <a:extLst>
              <a:ext uri="{FF2B5EF4-FFF2-40B4-BE49-F238E27FC236}">
                <a16:creationId xmlns:a16="http://schemas.microsoft.com/office/drawing/2014/main" id="{FC32D64C-D86F-767A-D028-55BA32183320}"/>
              </a:ext>
            </a:extLst>
          </p:cNvPr>
          <p:cNvPicPr>
            <a:picLocks noChangeAspect="1"/>
          </p:cNvPicPr>
          <p:nvPr/>
        </p:nvPicPr>
        <p:blipFill>
          <a:blip r:embed="rId2"/>
          <a:srcRect r="32083"/>
          <a:stretch>
            <a:fillRect/>
          </a:stretch>
        </p:blipFill>
        <p:spPr>
          <a:xfrm>
            <a:off x="85688" y="138271"/>
            <a:ext cx="2193637" cy="3428112"/>
          </a:xfrm>
          <a:prstGeom prst="rect">
            <a:avLst/>
          </a:prstGeom>
        </p:spPr>
      </p:pic>
      <p:pic>
        <p:nvPicPr>
          <p:cNvPr id="9" name="Imagen 8">
            <a:extLst>
              <a:ext uri="{FF2B5EF4-FFF2-40B4-BE49-F238E27FC236}">
                <a16:creationId xmlns:a16="http://schemas.microsoft.com/office/drawing/2014/main" id="{4D9CD294-8592-7E37-AE7D-1A9616CF7F33}"/>
              </a:ext>
            </a:extLst>
          </p:cNvPr>
          <p:cNvPicPr>
            <a:picLocks noChangeAspect="1"/>
          </p:cNvPicPr>
          <p:nvPr/>
        </p:nvPicPr>
        <p:blipFill>
          <a:blip r:embed="rId3"/>
          <a:srcRect r="32083"/>
          <a:stretch>
            <a:fillRect/>
          </a:stretch>
        </p:blipFill>
        <p:spPr>
          <a:xfrm>
            <a:off x="2479271" y="138271"/>
            <a:ext cx="2193638" cy="3428112"/>
          </a:xfrm>
          <a:prstGeom prst="rect">
            <a:avLst/>
          </a:prstGeom>
        </p:spPr>
      </p:pic>
      <p:sp>
        <p:nvSpPr>
          <p:cNvPr id="11" name="Marcador de contenido 2">
            <a:extLst>
              <a:ext uri="{FF2B5EF4-FFF2-40B4-BE49-F238E27FC236}">
                <a16:creationId xmlns:a16="http://schemas.microsoft.com/office/drawing/2014/main" id="{6AA156F3-E94D-A8E2-08F4-DFD184D69C83}"/>
              </a:ext>
            </a:extLst>
          </p:cNvPr>
          <p:cNvSpPr txBox="1">
            <a:spLocks/>
          </p:cNvSpPr>
          <p:nvPr/>
        </p:nvSpPr>
        <p:spPr>
          <a:xfrm>
            <a:off x="85689" y="4340122"/>
            <a:ext cx="4665708" cy="139850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lgn="just">
              <a:buAutoNum type="arabicPeriod" startAt="11"/>
            </a:pPr>
            <a:r>
              <a:rPr lang="es-US" dirty="0"/>
              <a:t>El código de la estructura del archivo </a:t>
            </a:r>
            <a:r>
              <a:rPr lang="es-US" dirty="0" err="1"/>
              <a:t>index.html</a:t>
            </a:r>
            <a:r>
              <a:rPr lang="es-US" dirty="0"/>
              <a:t> extraído directamente de las capturas de pantalla.</a:t>
            </a:r>
          </a:p>
          <a:p>
            <a:pPr marL="0" indent="0" algn="just">
              <a:buNone/>
            </a:pPr>
            <a:endParaRPr lang="es-US" dirty="0"/>
          </a:p>
          <a:p>
            <a:pPr marL="0" indent="0" algn="just">
              <a:buNone/>
            </a:pPr>
            <a:endParaRPr lang="es-US" dirty="0"/>
          </a:p>
          <a:p>
            <a:pPr marL="0" indent="0">
              <a:buFont typeface="Arial" panose="020B0604020202020204" pitchFamily="34" charset="0"/>
              <a:buNone/>
            </a:pPr>
            <a:endParaRPr lang="es-US" dirty="0"/>
          </a:p>
          <a:p>
            <a:pPr marL="0" indent="0">
              <a:buFont typeface="Arial" panose="020B0604020202020204" pitchFamily="34" charset="0"/>
              <a:buNone/>
            </a:pPr>
            <a:endParaRPr lang="es-US" dirty="0"/>
          </a:p>
        </p:txBody>
      </p:sp>
      <p:pic>
        <p:nvPicPr>
          <p:cNvPr id="14" name="Imagen 13">
            <a:extLst>
              <a:ext uri="{FF2B5EF4-FFF2-40B4-BE49-F238E27FC236}">
                <a16:creationId xmlns:a16="http://schemas.microsoft.com/office/drawing/2014/main" id="{9DF28959-07A8-87FD-11FC-C538CB8B36C9}"/>
              </a:ext>
            </a:extLst>
          </p:cNvPr>
          <p:cNvPicPr>
            <a:picLocks noChangeAspect="1"/>
          </p:cNvPicPr>
          <p:nvPr/>
        </p:nvPicPr>
        <p:blipFill>
          <a:blip r:embed="rId4"/>
          <a:srcRect r="26166"/>
          <a:stretch>
            <a:fillRect/>
          </a:stretch>
        </p:blipFill>
        <p:spPr>
          <a:xfrm>
            <a:off x="4999181" y="3135924"/>
            <a:ext cx="2193637" cy="3428112"/>
          </a:xfrm>
          <a:prstGeom prst="rect">
            <a:avLst/>
          </a:prstGeom>
        </p:spPr>
      </p:pic>
      <p:pic>
        <p:nvPicPr>
          <p:cNvPr id="17" name="Imagen 16">
            <a:extLst>
              <a:ext uri="{FF2B5EF4-FFF2-40B4-BE49-F238E27FC236}">
                <a16:creationId xmlns:a16="http://schemas.microsoft.com/office/drawing/2014/main" id="{DF2F0FBC-0068-58AE-D4AB-F13ABB3DD13E}"/>
              </a:ext>
            </a:extLst>
          </p:cNvPr>
          <p:cNvPicPr>
            <a:picLocks noChangeAspect="1"/>
          </p:cNvPicPr>
          <p:nvPr/>
        </p:nvPicPr>
        <p:blipFill>
          <a:blip r:embed="rId5"/>
          <a:srcRect r="35174"/>
          <a:stretch>
            <a:fillRect/>
          </a:stretch>
        </p:blipFill>
        <p:spPr>
          <a:xfrm>
            <a:off x="7310345" y="3135924"/>
            <a:ext cx="1926019" cy="3428112"/>
          </a:xfrm>
          <a:prstGeom prst="rect">
            <a:avLst/>
          </a:prstGeom>
        </p:spPr>
      </p:pic>
      <p:pic>
        <p:nvPicPr>
          <p:cNvPr id="20" name="Imagen 19">
            <a:extLst>
              <a:ext uri="{FF2B5EF4-FFF2-40B4-BE49-F238E27FC236}">
                <a16:creationId xmlns:a16="http://schemas.microsoft.com/office/drawing/2014/main" id="{B07BB7D1-8AC2-B86C-EE14-50FDB9897F24}"/>
              </a:ext>
            </a:extLst>
          </p:cNvPr>
          <p:cNvPicPr>
            <a:picLocks noChangeAspect="1"/>
          </p:cNvPicPr>
          <p:nvPr/>
        </p:nvPicPr>
        <p:blipFill>
          <a:blip r:embed="rId6"/>
          <a:srcRect r="30989"/>
          <a:stretch>
            <a:fillRect/>
          </a:stretch>
        </p:blipFill>
        <p:spPr>
          <a:xfrm>
            <a:off x="9441813" y="3135924"/>
            <a:ext cx="2050354" cy="3428112"/>
          </a:xfrm>
          <a:prstGeom prst="rect">
            <a:avLst/>
          </a:prstGeom>
        </p:spPr>
      </p:pic>
    </p:spTree>
    <p:extLst>
      <p:ext uri="{BB962C8B-B14F-4D97-AF65-F5344CB8AC3E}">
        <p14:creationId xmlns:p14="http://schemas.microsoft.com/office/powerpoint/2010/main" val="750801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3B3AEE1-DE58-F10A-BE5C-62E88B2B9EBF}"/>
              </a:ext>
            </a:extLst>
          </p:cNvPr>
          <p:cNvSpPr>
            <a:spLocks noGrp="1"/>
          </p:cNvSpPr>
          <p:nvPr>
            <p:ph sz="quarter" idx="13"/>
          </p:nvPr>
        </p:nvSpPr>
        <p:spPr>
          <a:xfrm>
            <a:off x="7901" y="1203666"/>
            <a:ext cx="6803918" cy="1647174"/>
          </a:xfrm>
        </p:spPr>
        <p:txBody>
          <a:bodyPr/>
          <a:lstStyle/>
          <a:p>
            <a:pPr marL="457200" indent="-457200" algn="just">
              <a:buAutoNum type="arabicPeriod" startAt="12"/>
            </a:pPr>
            <a:r>
              <a:rPr lang="es-US" dirty="0"/>
              <a:t>El código del archivo </a:t>
            </a:r>
            <a:r>
              <a:rPr lang="es-US" dirty="0" err="1"/>
              <a:t>styles.css</a:t>
            </a:r>
            <a:r>
              <a:rPr lang="es-US" dirty="0"/>
              <a:t> correspondiente a las partes visibles en las capturas de pantalla.</a:t>
            </a:r>
          </a:p>
        </p:txBody>
      </p:sp>
      <p:pic>
        <p:nvPicPr>
          <p:cNvPr id="6" name="Imagen 5">
            <a:extLst>
              <a:ext uri="{FF2B5EF4-FFF2-40B4-BE49-F238E27FC236}">
                <a16:creationId xmlns:a16="http://schemas.microsoft.com/office/drawing/2014/main" id="{B5C725C3-9E5B-9FE4-2BC7-134877C8171A}"/>
              </a:ext>
            </a:extLst>
          </p:cNvPr>
          <p:cNvPicPr>
            <a:picLocks noChangeAspect="1"/>
          </p:cNvPicPr>
          <p:nvPr/>
        </p:nvPicPr>
        <p:blipFill>
          <a:blip r:embed="rId2"/>
          <a:srcRect r="33679"/>
          <a:stretch>
            <a:fillRect/>
          </a:stretch>
        </p:blipFill>
        <p:spPr>
          <a:xfrm>
            <a:off x="7097198" y="231798"/>
            <a:ext cx="1970425" cy="3428112"/>
          </a:xfrm>
          <a:prstGeom prst="rect">
            <a:avLst/>
          </a:prstGeom>
        </p:spPr>
      </p:pic>
      <p:pic>
        <p:nvPicPr>
          <p:cNvPr id="9" name="Imagen 8">
            <a:extLst>
              <a:ext uri="{FF2B5EF4-FFF2-40B4-BE49-F238E27FC236}">
                <a16:creationId xmlns:a16="http://schemas.microsoft.com/office/drawing/2014/main" id="{CE6E1BBD-4451-AB9C-D25C-3AF0D7004843}"/>
              </a:ext>
            </a:extLst>
          </p:cNvPr>
          <p:cNvPicPr>
            <a:picLocks noChangeAspect="1"/>
          </p:cNvPicPr>
          <p:nvPr/>
        </p:nvPicPr>
        <p:blipFill>
          <a:blip r:embed="rId3"/>
          <a:srcRect r="31288"/>
          <a:stretch>
            <a:fillRect/>
          </a:stretch>
        </p:blipFill>
        <p:spPr>
          <a:xfrm>
            <a:off x="9353002" y="231798"/>
            <a:ext cx="2041473" cy="3428112"/>
          </a:xfrm>
          <a:prstGeom prst="rect">
            <a:avLst/>
          </a:prstGeom>
        </p:spPr>
      </p:pic>
      <p:sp>
        <p:nvSpPr>
          <p:cNvPr id="11" name="Marcador de contenido 2">
            <a:extLst>
              <a:ext uri="{FF2B5EF4-FFF2-40B4-BE49-F238E27FC236}">
                <a16:creationId xmlns:a16="http://schemas.microsoft.com/office/drawing/2014/main" id="{D45B6A15-1B5D-2D0F-B917-413B0DEA98E6}"/>
              </a:ext>
            </a:extLst>
          </p:cNvPr>
          <p:cNvSpPr txBox="1">
            <a:spLocks/>
          </p:cNvSpPr>
          <p:nvPr/>
        </p:nvSpPr>
        <p:spPr>
          <a:xfrm>
            <a:off x="4991630" y="4340122"/>
            <a:ext cx="6803918" cy="164717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lgn="just">
              <a:buAutoNum type="arabicPeriod" startAt="13"/>
            </a:pPr>
            <a:r>
              <a:rPr lang="es-US" dirty="0"/>
              <a:t>El código del archivo </a:t>
            </a:r>
            <a:r>
              <a:rPr lang="es-US" dirty="0" err="1"/>
              <a:t>app.js</a:t>
            </a:r>
            <a:r>
              <a:rPr lang="es-US" dirty="0"/>
              <a:t> extraído de la captura de pantalla.</a:t>
            </a:r>
          </a:p>
          <a:p>
            <a:pPr marL="0" indent="0" algn="just">
              <a:buNone/>
            </a:pPr>
            <a:endParaRPr lang="es-US" dirty="0"/>
          </a:p>
        </p:txBody>
      </p:sp>
      <p:pic>
        <p:nvPicPr>
          <p:cNvPr id="14" name="Imagen 13">
            <a:extLst>
              <a:ext uri="{FF2B5EF4-FFF2-40B4-BE49-F238E27FC236}">
                <a16:creationId xmlns:a16="http://schemas.microsoft.com/office/drawing/2014/main" id="{BD4A708E-43B0-5A7F-3DF4-35F02DF6497E}"/>
              </a:ext>
            </a:extLst>
          </p:cNvPr>
          <p:cNvPicPr>
            <a:picLocks noChangeAspect="1"/>
          </p:cNvPicPr>
          <p:nvPr/>
        </p:nvPicPr>
        <p:blipFill>
          <a:blip r:embed="rId4"/>
          <a:srcRect r="26504"/>
          <a:stretch>
            <a:fillRect/>
          </a:stretch>
        </p:blipFill>
        <p:spPr>
          <a:xfrm>
            <a:off x="249856" y="2626066"/>
            <a:ext cx="2183571" cy="3428112"/>
          </a:xfrm>
          <a:prstGeom prst="rect">
            <a:avLst/>
          </a:prstGeom>
        </p:spPr>
      </p:pic>
      <p:pic>
        <p:nvPicPr>
          <p:cNvPr id="17" name="Imagen 16">
            <a:extLst>
              <a:ext uri="{FF2B5EF4-FFF2-40B4-BE49-F238E27FC236}">
                <a16:creationId xmlns:a16="http://schemas.microsoft.com/office/drawing/2014/main" id="{142F4F3D-B054-2D61-ADCF-ACE9EA91A28A}"/>
              </a:ext>
            </a:extLst>
          </p:cNvPr>
          <p:cNvPicPr>
            <a:picLocks noChangeAspect="1"/>
          </p:cNvPicPr>
          <p:nvPr/>
        </p:nvPicPr>
        <p:blipFill>
          <a:blip r:embed="rId5"/>
          <a:srcRect r="25673"/>
          <a:stretch>
            <a:fillRect/>
          </a:stretch>
        </p:blipFill>
        <p:spPr>
          <a:xfrm>
            <a:off x="2591809" y="2738453"/>
            <a:ext cx="2208287" cy="3428112"/>
          </a:xfrm>
          <a:prstGeom prst="rect">
            <a:avLst/>
          </a:prstGeom>
        </p:spPr>
      </p:pic>
    </p:spTree>
    <p:extLst>
      <p:ext uri="{BB962C8B-B14F-4D97-AF65-F5344CB8AC3E}">
        <p14:creationId xmlns:p14="http://schemas.microsoft.com/office/powerpoint/2010/main" val="909139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EDA167D-5D9E-B7B7-A999-0B0561F94B8C}"/>
              </a:ext>
            </a:extLst>
          </p:cNvPr>
          <p:cNvSpPr>
            <a:spLocks noGrp="1"/>
          </p:cNvSpPr>
          <p:nvPr>
            <p:ph sz="quarter" idx="13"/>
          </p:nvPr>
        </p:nvSpPr>
        <p:spPr>
          <a:xfrm>
            <a:off x="914087" y="253385"/>
            <a:ext cx="10363826" cy="3424107"/>
          </a:xfrm>
        </p:spPr>
        <p:txBody>
          <a:bodyPr/>
          <a:lstStyle/>
          <a:p>
            <a:pPr marL="457200" indent="-457200" algn="just">
              <a:buAutoNum type="arabicPeriod" startAt="14"/>
            </a:pPr>
            <a:r>
              <a:rPr lang="es-US" dirty="0"/>
              <a:t>La confirmación del paso para ejecutar la aplicación Spring </a:t>
            </a:r>
            <a:r>
              <a:rPr lang="es-US" dirty="0" err="1"/>
              <a:t>Boot</a:t>
            </a:r>
            <a:r>
              <a:rPr lang="es-US" dirty="0"/>
              <a:t> en </a:t>
            </a:r>
            <a:r>
              <a:rPr lang="es-US" dirty="0" err="1"/>
              <a:t>IntelliJ</a:t>
            </a:r>
            <a:r>
              <a:rPr lang="es-US" dirty="0"/>
              <a:t> IDEA basándome en la captura brindada:</a:t>
            </a:r>
          </a:p>
          <a:p>
            <a:pPr marL="0" indent="0" algn="just">
              <a:buNone/>
            </a:pPr>
            <a:endParaRPr lang="es-US" dirty="0"/>
          </a:p>
        </p:txBody>
      </p:sp>
      <p:sp>
        <p:nvSpPr>
          <p:cNvPr id="5" name="Marcador de contenido 2">
            <a:extLst>
              <a:ext uri="{FF2B5EF4-FFF2-40B4-BE49-F238E27FC236}">
                <a16:creationId xmlns:a16="http://schemas.microsoft.com/office/drawing/2014/main" id="{15CD88CC-289A-8535-6E65-527EE2F46850}"/>
              </a:ext>
            </a:extLst>
          </p:cNvPr>
          <p:cNvSpPr txBox="1">
            <a:spLocks/>
          </p:cNvSpPr>
          <p:nvPr/>
        </p:nvSpPr>
        <p:spPr>
          <a:xfrm>
            <a:off x="125089" y="1314406"/>
            <a:ext cx="5970911" cy="529020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lgn="just">
              <a:buFont typeface="+mj-lt"/>
              <a:buAutoNum type="arabicPeriod"/>
            </a:pPr>
            <a:r>
              <a:rPr lang="es-US" b="1" dirty="0">
                <a:solidFill>
                  <a:srgbClr val="FF0000"/>
                </a:solidFill>
              </a:rPr>
              <a:t>Crear el proyecto </a:t>
            </a:r>
            <a:r>
              <a:rPr lang="es-US" b="1" dirty="0" err="1">
                <a:solidFill>
                  <a:srgbClr val="FF0000"/>
                </a:solidFill>
              </a:rPr>
              <a:t>Maven</a:t>
            </a:r>
            <a:r>
              <a:rPr lang="es-US" b="1" dirty="0">
                <a:solidFill>
                  <a:srgbClr val="FF0000"/>
                </a:solidFill>
              </a:rPr>
              <a:t>:</a:t>
            </a:r>
            <a:r>
              <a:rPr lang="es-US" dirty="0"/>
              <a:t> Crea un nuevo proyecto </a:t>
            </a:r>
            <a:r>
              <a:rPr lang="es-US" dirty="0" err="1"/>
              <a:t>Maven</a:t>
            </a:r>
            <a:r>
              <a:rPr lang="es-US" dirty="0"/>
              <a:t> en </a:t>
            </a:r>
            <a:r>
              <a:rPr lang="es-US" dirty="0" err="1"/>
              <a:t>IntelliJ</a:t>
            </a:r>
            <a:r>
              <a:rPr lang="es-US" dirty="0"/>
              <a:t> configurado con el SDK de Java 17.</a:t>
            </a:r>
          </a:p>
          <a:p>
            <a:pPr marL="457200" indent="-457200" algn="just">
              <a:buFont typeface="+mj-lt"/>
              <a:buAutoNum type="arabicPeriod"/>
            </a:pPr>
            <a:r>
              <a:rPr lang="es-US" b="1" dirty="0">
                <a:solidFill>
                  <a:srgbClr val="FF0000"/>
                </a:solidFill>
              </a:rPr>
              <a:t>Estructura de carpetas:</a:t>
            </a:r>
            <a:r>
              <a:rPr lang="es-US" dirty="0"/>
              <a:t> Copia las clases Java dentro de </a:t>
            </a:r>
            <a:r>
              <a:rPr lang="es-US" dirty="0" err="1"/>
              <a:t>src</a:t>
            </a:r>
            <a:r>
              <a:rPr lang="es-US" dirty="0"/>
              <a:t>/</a:t>
            </a:r>
            <a:r>
              <a:rPr lang="es-US" dirty="0" err="1"/>
              <a:t>main</a:t>
            </a:r>
            <a:r>
              <a:rPr lang="es-US" dirty="0"/>
              <a:t>/java/</a:t>
            </a:r>
            <a:r>
              <a:rPr lang="es-US" dirty="0" err="1"/>
              <a:t>com</a:t>
            </a:r>
            <a:r>
              <a:rPr lang="es-US" dirty="0"/>
              <a:t>/compiladores/educativo/ y los archivos estáticos (</a:t>
            </a:r>
            <a:r>
              <a:rPr lang="es-US" dirty="0" err="1"/>
              <a:t>index.html</a:t>
            </a:r>
            <a:r>
              <a:rPr lang="es-US" dirty="0"/>
              <a:t>, </a:t>
            </a:r>
            <a:r>
              <a:rPr lang="es-US" dirty="0" err="1"/>
              <a:t>css</a:t>
            </a:r>
            <a:r>
              <a:rPr lang="es-US" dirty="0"/>
              <a:t>/</a:t>
            </a:r>
            <a:r>
              <a:rPr lang="es-US" dirty="0" err="1"/>
              <a:t>styles.css</a:t>
            </a:r>
            <a:r>
              <a:rPr lang="es-US" dirty="0"/>
              <a:t>, </a:t>
            </a:r>
            <a:r>
              <a:rPr lang="es-US" dirty="0" err="1"/>
              <a:t>js</a:t>
            </a:r>
            <a:r>
              <a:rPr lang="es-US" dirty="0"/>
              <a:t>/</a:t>
            </a:r>
            <a:r>
              <a:rPr lang="es-US" dirty="0" err="1"/>
              <a:t>app.js</a:t>
            </a:r>
            <a:r>
              <a:rPr lang="es-US" dirty="0"/>
              <a:t>) en la carpeta </a:t>
            </a:r>
            <a:r>
              <a:rPr lang="es-US" dirty="0" err="1"/>
              <a:t>src</a:t>
            </a:r>
            <a:r>
              <a:rPr lang="es-US" dirty="0"/>
              <a:t>/</a:t>
            </a:r>
            <a:r>
              <a:rPr lang="es-US" dirty="0" err="1"/>
              <a:t>main</a:t>
            </a:r>
            <a:r>
              <a:rPr lang="es-US" dirty="0"/>
              <a:t>/</a:t>
            </a:r>
            <a:r>
              <a:rPr lang="es-US" dirty="0" err="1"/>
              <a:t>resources</a:t>
            </a:r>
            <a:r>
              <a:rPr lang="es-US" dirty="0"/>
              <a:t>/</a:t>
            </a:r>
            <a:r>
              <a:rPr lang="es-US" dirty="0" err="1"/>
              <a:t>static</a:t>
            </a:r>
            <a:r>
              <a:rPr lang="es-US" dirty="0"/>
              <a:t>/.</a:t>
            </a:r>
          </a:p>
          <a:p>
            <a:pPr marL="457200" indent="-457200" algn="just">
              <a:buFont typeface="+mj-lt"/>
              <a:buAutoNum type="arabicPeriod"/>
            </a:pPr>
            <a:r>
              <a:rPr lang="es-US" b="1" dirty="0">
                <a:solidFill>
                  <a:srgbClr val="FF0000"/>
                </a:solidFill>
              </a:rPr>
              <a:t>Versión de Java:</a:t>
            </a:r>
            <a:r>
              <a:rPr lang="es-US" dirty="0"/>
              <a:t> Asegúrate de utilizar JDK 17 (como se confirma en los </a:t>
            </a:r>
            <a:r>
              <a:rPr lang="es-US" dirty="0" err="1"/>
              <a:t>logs</a:t>
            </a:r>
            <a:r>
              <a:rPr lang="es-US" dirty="0"/>
              <a:t>: Java 17.0.19).</a:t>
            </a:r>
          </a:p>
          <a:p>
            <a:pPr marL="457200" indent="-457200" algn="just">
              <a:buFont typeface="+mj-lt"/>
              <a:buAutoNum type="arabicPeriod"/>
            </a:pPr>
            <a:r>
              <a:rPr lang="es-US" b="1" dirty="0">
                <a:solidFill>
                  <a:srgbClr val="FF0000"/>
                </a:solidFill>
              </a:rPr>
              <a:t>Dependencias:</a:t>
            </a:r>
            <a:r>
              <a:rPr lang="es-US" dirty="0"/>
              <a:t> Verifica que el archivo </a:t>
            </a:r>
            <a:r>
              <a:rPr lang="es-US" dirty="0" err="1"/>
              <a:t>pom.xml</a:t>
            </a:r>
            <a:r>
              <a:rPr lang="es-US" dirty="0"/>
              <a:t> incluya la dependencia </a:t>
            </a:r>
            <a:r>
              <a:rPr lang="es-US" dirty="0" err="1"/>
              <a:t>spring</a:t>
            </a:r>
            <a:r>
              <a:rPr lang="es-US" dirty="0"/>
              <a:t>-</a:t>
            </a:r>
            <a:r>
              <a:rPr lang="es-US" dirty="0" err="1"/>
              <a:t>boot</a:t>
            </a:r>
            <a:r>
              <a:rPr lang="es-US" dirty="0"/>
              <a:t>-starter-web.</a:t>
            </a:r>
          </a:p>
          <a:p>
            <a:pPr marL="457200" indent="-457200" algn="just">
              <a:buFont typeface="+mj-lt"/>
              <a:buAutoNum type="arabicPeriod"/>
            </a:pPr>
            <a:r>
              <a:rPr lang="es-US" b="1" dirty="0">
                <a:solidFill>
                  <a:srgbClr val="FF0000"/>
                </a:solidFill>
              </a:rPr>
              <a:t>Ejecutar la aplicación: </a:t>
            </a:r>
            <a:r>
              <a:rPr lang="es-US" dirty="0"/>
              <a:t>Ejecuta la clase principal </a:t>
            </a:r>
            <a:r>
              <a:rPr lang="es-US" dirty="0" err="1"/>
              <a:t>CompiladorApplication.java</a:t>
            </a:r>
            <a:r>
              <a:rPr lang="es-US" dirty="0"/>
              <a:t>.</a:t>
            </a:r>
          </a:p>
        </p:txBody>
      </p:sp>
      <p:pic>
        <p:nvPicPr>
          <p:cNvPr id="8" name="Imagen 7">
            <a:extLst>
              <a:ext uri="{FF2B5EF4-FFF2-40B4-BE49-F238E27FC236}">
                <a16:creationId xmlns:a16="http://schemas.microsoft.com/office/drawing/2014/main" id="{25E13AA2-D214-3FCC-71CB-EC38857FB716}"/>
              </a:ext>
            </a:extLst>
          </p:cNvPr>
          <p:cNvPicPr>
            <a:picLocks noChangeAspect="1"/>
          </p:cNvPicPr>
          <p:nvPr/>
        </p:nvPicPr>
        <p:blipFill>
          <a:blip r:embed="rId2"/>
          <a:stretch>
            <a:fillRect/>
          </a:stretch>
        </p:blipFill>
        <p:spPr>
          <a:xfrm>
            <a:off x="6779558" y="5151050"/>
            <a:ext cx="5317126" cy="1453566"/>
          </a:xfrm>
          <a:prstGeom prst="rect">
            <a:avLst/>
          </a:prstGeom>
        </p:spPr>
      </p:pic>
      <p:sp>
        <p:nvSpPr>
          <p:cNvPr id="10" name="Marcador de contenido 2">
            <a:extLst>
              <a:ext uri="{FF2B5EF4-FFF2-40B4-BE49-F238E27FC236}">
                <a16:creationId xmlns:a16="http://schemas.microsoft.com/office/drawing/2014/main" id="{B3B822E6-7D58-CF53-483A-013118361FDE}"/>
              </a:ext>
            </a:extLst>
          </p:cNvPr>
          <p:cNvSpPr txBox="1">
            <a:spLocks/>
          </p:cNvSpPr>
          <p:nvPr/>
        </p:nvSpPr>
        <p:spPr>
          <a:xfrm>
            <a:off x="6779558" y="1192427"/>
            <a:ext cx="5102490" cy="52902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algn="just"/>
            <a:r>
              <a:rPr lang="es-US" b="1" dirty="0">
                <a:solidFill>
                  <a:srgbClr val="FF0000"/>
                </a:solidFill>
              </a:rPr>
              <a:t>Servidor </a:t>
            </a:r>
            <a:r>
              <a:rPr lang="es-US" b="1" dirty="0" err="1">
                <a:solidFill>
                  <a:srgbClr val="FF0000"/>
                </a:solidFill>
              </a:rPr>
              <a:t>Embedded</a:t>
            </a:r>
            <a:r>
              <a:rPr lang="es-US" b="1" dirty="0">
                <a:solidFill>
                  <a:srgbClr val="FF0000"/>
                </a:solidFill>
              </a:rPr>
              <a:t>:</a:t>
            </a:r>
            <a:r>
              <a:rPr lang="es-US" dirty="0"/>
              <a:t> Apache </a:t>
            </a:r>
            <a:r>
              <a:rPr lang="es-US" dirty="0" err="1"/>
              <a:t>Tomcat</a:t>
            </a:r>
            <a:r>
              <a:rPr lang="es-US" dirty="0"/>
              <a:t> iniciado correctamente en el puerto 8080.</a:t>
            </a:r>
          </a:p>
          <a:p>
            <a:pPr algn="just"/>
            <a:r>
              <a:rPr lang="es-US" b="1" dirty="0">
                <a:solidFill>
                  <a:srgbClr val="FF0000"/>
                </a:solidFill>
              </a:rPr>
              <a:t>Archivos estáticos mapeados:</a:t>
            </a:r>
            <a:r>
              <a:rPr lang="es-US" dirty="0"/>
              <a:t> Spring </a:t>
            </a:r>
            <a:r>
              <a:rPr lang="es-US" dirty="0" err="1"/>
              <a:t>Boot</a:t>
            </a:r>
            <a:r>
              <a:rPr lang="es-US" dirty="0"/>
              <a:t> detectó el archivo </a:t>
            </a:r>
            <a:r>
              <a:rPr lang="es-US" dirty="0" err="1"/>
              <a:t>index.html</a:t>
            </a:r>
            <a:r>
              <a:rPr lang="es-US" dirty="0"/>
              <a:t> en la ruta estática (</a:t>
            </a:r>
            <a:r>
              <a:rPr lang="es-US" dirty="0" err="1"/>
              <a:t>Adding</a:t>
            </a:r>
            <a:r>
              <a:rPr lang="es-US" dirty="0"/>
              <a:t> </a:t>
            </a:r>
            <a:r>
              <a:rPr lang="es-US" dirty="0" err="1"/>
              <a:t>welcome</a:t>
            </a:r>
            <a:r>
              <a:rPr lang="es-US" dirty="0"/>
              <a:t> page: </a:t>
            </a:r>
            <a:r>
              <a:rPr lang="es-US" dirty="0" err="1"/>
              <a:t>class</a:t>
            </a:r>
            <a:r>
              <a:rPr lang="es-US" dirty="0"/>
              <a:t> </a:t>
            </a:r>
            <a:r>
              <a:rPr lang="es-US" dirty="0" err="1"/>
              <a:t>path</a:t>
            </a:r>
            <a:r>
              <a:rPr lang="es-US" dirty="0"/>
              <a:t> </a:t>
            </a:r>
            <a:r>
              <a:rPr lang="es-US" dirty="0" err="1"/>
              <a:t>resource</a:t>
            </a:r>
            <a:r>
              <a:rPr lang="es-US" dirty="0"/>
              <a:t> [</a:t>
            </a:r>
            <a:r>
              <a:rPr lang="es-US" dirty="0" err="1"/>
              <a:t>static</a:t>
            </a:r>
            <a:r>
              <a:rPr lang="es-US" dirty="0"/>
              <a:t>/</a:t>
            </a:r>
            <a:r>
              <a:rPr lang="es-US" dirty="0" err="1"/>
              <a:t>index.html</a:t>
            </a:r>
            <a:r>
              <a:rPr lang="es-US" dirty="0"/>
              <a:t>]).   </a:t>
            </a:r>
          </a:p>
          <a:p>
            <a:pPr algn="just"/>
            <a:r>
              <a:rPr lang="es-US" b="1" dirty="0">
                <a:solidFill>
                  <a:srgbClr val="FF0000"/>
                </a:solidFill>
              </a:rPr>
              <a:t>Estado:</a:t>
            </a:r>
            <a:r>
              <a:rPr lang="es-US" dirty="0"/>
              <a:t> </a:t>
            </a:r>
            <a:r>
              <a:rPr lang="es-US" dirty="0" err="1"/>
              <a:t>Started</a:t>
            </a:r>
            <a:r>
              <a:rPr lang="es-US" dirty="0"/>
              <a:t> </a:t>
            </a:r>
            <a:r>
              <a:rPr lang="es-US" dirty="0" err="1"/>
              <a:t>CompiladorApplication</a:t>
            </a:r>
            <a:r>
              <a:rPr lang="es-US" dirty="0"/>
              <a:t> in 1.187 </a:t>
            </a:r>
            <a:r>
              <a:rPr lang="es-US" dirty="0" err="1"/>
              <a:t>seconds</a:t>
            </a:r>
            <a:r>
              <a:rPr lang="es-US" dirty="0"/>
              <a:t>.</a:t>
            </a:r>
          </a:p>
        </p:txBody>
      </p:sp>
    </p:spTree>
    <p:extLst>
      <p:ext uri="{BB962C8B-B14F-4D97-AF65-F5344CB8AC3E}">
        <p14:creationId xmlns:p14="http://schemas.microsoft.com/office/powerpoint/2010/main" val="3770928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2AC6BAE-853D-834D-E4A3-366D57081BF5}"/>
              </a:ext>
            </a:extLst>
          </p:cNvPr>
          <p:cNvSpPr>
            <a:spLocks noGrp="1"/>
          </p:cNvSpPr>
          <p:nvPr>
            <p:ph sz="quarter" idx="13"/>
          </p:nvPr>
        </p:nvSpPr>
        <p:spPr>
          <a:xfrm>
            <a:off x="914087" y="102407"/>
            <a:ext cx="10363826" cy="3424107"/>
          </a:xfrm>
        </p:spPr>
        <p:txBody>
          <a:bodyPr/>
          <a:lstStyle/>
          <a:p>
            <a:pPr marL="457200" indent="-457200" algn="just">
              <a:buAutoNum type="arabicPeriod" startAt="15"/>
            </a:pPr>
            <a:r>
              <a:rPr lang="es-US" dirty="0"/>
              <a:t>La interfaz web de tu Compilador Educativo ha cargado correctamente en el navegador (</a:t>
            </a:r>
            <a:r>
              <a:rPr lang="es-US" dirty="0">
                <a:hlinkClick r:id="rId2"/>
              </a:rPr>
              <a:t>http://localhost:8080</a:t>
            </a:r>
            <a:r>
              <a:rPr lang="es-US" dirty="0"/>
              <a:t>).</a:t>
            </a:r>
          </a:p>
          <a:p>
            <a:pPr marL="0" indent="0" algn="just">
              <a:buNone/>
            </a:pPr>
            <a:endParaRPr lang="es-US" dirty="0"/>
          </a:p>
        </p:txBody>
      </p:sp>
      <p:sp>
        <p:nvSpPr>
          <p:cNvPr id="5" name="Marcador de contenido 2">
            <a:extLst>
              <a:ext uri="{FF2B5EF4-FFF2-40B4-BE49-F238E27FC236}">
                <a16:creationId xmlns:a16="http://schemas.microsoft.com/office/drawing/2014/main" id="{1D9D713E-6BD8-6421-788C-15DA70090679}"/>
              </a:ext>
            </a:extLst>
          </p:cNvPr>
          <p:cNvSpPr txBox="1">
            <a:spLocks/>
          </p:cNvSpPr>
          <p:nvPr/>
        </p:nvSpPr>
        <p:spPr>
          <a:xfrm>
            <a:off x="0" y="1136784"/>
            <a:ext cx="5568462" cy="5618810"/>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None/>
            </a:pPr>
            <a:r>
              <a:rPr lang="es-US" dirty="0"/>
              <a:t>Como se observa en la captura, todos los componentes visuales y el maquetado CSS están respondiendo de manera correcta.</a:t>
            </a:r>
          </a:p>
          <a:p>
            <a:pPr algn="just"/>
            <a:r>
              <a:rPr lang="es-US" b="1" dirty="0">
                <a:solidFill>
                  <a:srgbClr val="FF0000"/>
                </a:solidFill>
              </a:rPr>
              <a:t>Encabezado:</a:t>
            </a:r>
            <a:r>
              <a:rPr lang="es-US" dirty="0"/>
              <a:t> Título y fases del compilador perfectamente alineados.</a:t>
            </a:r>
          </a:p>
          <a:p>
            <a:pPr algn="just"/>
            <a:r>
              <a:rPr lang="es-US" b="1" dirty="0">
                <a:solidFill>
                  <a:srgbClr val="FF0000"/>
                </a:solidFill>
              </a:rPr>
              <a:t>Sección de Código Fuente:</a:t>
            </a:r>
            <a:r>
              <a:rPr lang="es-US" dirty="0"/>
              <a:t> El área de texto y los botones (ANALIZAR, EJEMPLO, LIMPIAR) listos para operar.</a:t>
            </a:r>
          </a:p>
          <a:p>
            <a:pPr algn="just"/>
            <a:r>
              <a:rPr lang="es-US" b="1" dirty="0">
                <a:solidFill>
                  <a:srgbClr val="FF0000"/>
                </a:solidFill>
              </a:rPr>
              <a:t>Menú de Temas: </a:t>
            </a:r>
            <a:r>
              <a:rPr lang="es-US" dirty="0"/>
              <a:t>Módulo de navegación lateral para explorar Análisis Semántico, Código Intermedio, Optimización y Código Objeto.</a:t>
            </a:r>
          </a:p>
          <a:p>
            <a:pPr algn="just"/>
            <a:r>
              <a:rPr lang="es-US" b="1" dirty="0">
                <a:solidFill>
                  <a:srgbClr val="FF0000"/>
                </a:solidFill>
              </a:rPr>
              <a:t>Panel de Resultados:</a:t>
            </a:r>
            <a:r>
              <a:rPr lang="es-US" dirty="0"/>
              <a:t> Indicando el mensaje inicial por defecto (Presiona ANALIZAR para comenzar.).</a:t>
            </a:r>
          </a:p>
          <a:p>
            <a:pPr marL="0" indent="0" algn="just">
              <a:buNone/>
            </a:pPr>
            <a:r>
              <a:rPr lang="es-US" dirty="0"/>
              <a:t>Para probar el flujo completo de la aplicación, puedes hacer clic en el botón EJEMPLO para cargar el código fuente predeterminado y luego presionar ► ANALIZAR para ejecutar la llamada al </a:t>
            </a:r>
            <a:r>
              <a:rPr lang="es-US" dirty="0" err="1"/>
              <a:t>backend</a:t>
            </a:r>
            <a:r>
              <a:rPr lang="es-US" dirty="0"/>
              <a:t>.</a:t>
            </a:r>
          </a:p>
          <a:p>
            <a:pPr marL="0" indent="0" algn="just">
              <a:buNone/>
            </a:pPr>
            <a:endParaRPr lang="es-US" dirty="0"/>
          </a:p>
        </p:txBody>
      </p:sp>
      <p:pic>
        <p:nvPicPr>
          <p:cNvPr id="12" name="Imagen 11">
            <a:extLst>
              <a:ext uri="{FF2B5EF4-FFF2-40B4-BE49-F238E27FC236}">
                <a16:creationId xmlns:a16="http://schemas.microsoft.com/office/drawing/2014/main" id="{DAE56147-5B10-18FC-B4C6-6FB07B128668}"/>
              </a:ext>
            </a:extLst>
          </p:cNvPr>
          <p:cNvPicPr>
            <a:picLocks noChangeAspect="1"/>
          </p:cNvPicPr>
          <p:nvPr/>
        </p:nvPicPr>
        <p:blipFill>
          <a:blip r:embed="rId3"/>
          <a:stretch>
            <a:fillRect/>
          </a:stretch>
        </p:blipFill>
        <p:spPr>
          <a:xfrm>
            <a:off x="5810917" y="2087042"/>
            <a:ext cx="6132412" cy="2878944"/>
          </a:xfrm>
          <a:prstGeom prst="rect">
            <a:avLst/>
          </a:prstGeom>
        </p:spPr>
      </p:pic>
    </p:spTree>
    <p:extLst>
      <p:ext uri="{BB962C8B-B14F-4D97-AF65-F5344CB8AC3E}">
        <p14:creationId xmlns:p14="http://schemas.microsoft.com/office/powerpoint/2010/main" val="1659492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F01A24D-077B-E548-B32F-79E671A7E505}"/>
              </a:ext>
            </a:extLst>
          </p:cNvPr>
          <p:cNvSpPr>
            <a:spLocks noGrp="1"/>
          </p:cNvSpPr>
          <p:nvPr>
            <p:ph sz="quarter" idx="13"/>
          </p:nvPr>
        </p:nvSpPr>
        <p:spPr>
          <a:xfrm>
            <a:off x="914087" y="146812"/>
            <a:ext cx="10363826" cy="3424107"/>
          </a:xfrm>
        </p:spPr>
        <p:txBody>
          <a:bodyPr/>
          <a:lstStyle/>
          <a:p>
            <a:pPr marL="457200" indent="-457200" algn="just">
              <a:buAutoNum type="arabicPeriod" startAt="16"/>
            </a:pPr>
            <a:r>
              <a:rPr lang="es-US" dirty="0"/>
              <a:t>El módulo de Análisis Semántico ha procesado correctamente el código fuente y devuelto todos los resultados estructurados desde el </a:t>
            </a:r>
            <a:r>
              <a:rPr lang="es-US" dirty="0" err="1"/>
              <a:t>backend</a:t>
            </a:r>
            <a:r>
              <a:rPr lang="es-US" dirty="0"/>
              <a:t>.</a:t>
            </a:r>
          </a:p>
          <a:p>
            <a:pPr marL="0" indent="0" algn="just">
              <a:buNone/>
            </a:pPr>
            <a:endParaRPr lang="es-US" dirty="0"/>
          </a:p>
          <a:p>
            <a:pPr marL="0" indent="0" algn="just">
              <a:buNone/>
            </a:pPr>
            <a:endParaRPr lang="es-US" dirty="0"/>
          </a:p>
        </p:txBody>
      </p:sp>
      <p:pic>
        <p:nvPicPr>
          <p:cNvPr id="6" name="Imagen 5">
            <a:extLst>
              <a:ext uri="{FF2B5EF4-FFF2-40B4-BE49-F238E27FC236}">
                <a16:creationId xmlns:a16="http://schemas.microsoft.com/office/drawing/2014/main" id="{C81E8C23-AB50-95AE-12C5-08615E18D0C6}"/>
              </a:ext>
            </a:extLst>
          </p:cNvPr>
          <p:cNvPicPr>
            <a:picLocks noChangeAspect="1"/>
          </p:cNvPicPr>
          <p:nvPr/>
        </p:nvPicPr>
        <p:blipFill>
          <a:blip r:embed="rId2"/>
          <a:stretch>
            <a:fillRect/>
          </a:stretch>
        </p:blipFill>
        <p:spPr>
          <a:xfrm>
            <a:off x="-888" y="1109754"/>
            <a:ext cx="6096888" cy="2862267"/>
          </a:xfrm>
          <a:prstGeom prst="rect">
            <a:avLst/>
          </a:prstGeom>
        </p:spPr>
      </p:pic>
      <p:pic>
        <p:nvPicPr>
          <p:cNvPr id="9" name="Imagen 8">
            <a:extLst>
              <a:ext uri="{FF2B5EF4-FFF2-40B4-BE49-F238E27FC236}">
                <a16:creationId xmlns:a16="http://schemas.microsoft.com/office/drawing/2014/main" id="{5D3B4F70-F114-E953-3E7E-152D503B35A2}"/>
              </a:ext>
            </a:extLst>
          </p:cNvPr>
          <p:cNvPicPr>
            <a:picLocks noChangeAspect="1"/>
          </p:cNvPicPr>
          <p:nvPr/>
        </p:nvPicPr>
        <p:blipFill>
          <a:blip r:embed="rId3"/>
          <a:srcRect r="50996"/>
          <a:stretch>
            <a:fillRect/>
          </a:stretch>
        </p:blipFill>
        <p:spPr>
          <a:xfrm>
            <a:off x="6444755" y="1109754"/>
            <a:ext cx="1486084" cy="3428112"/>
          </a:xfrm>
          <a:prstGeom prst="rect">
            <a:avLst/>
          </a:prstGeom>
        </p:spPr>
      </p:pic>
      <p:pic>
        <p:nvPicPr>
          <p:cNvPr id="12" name="Imagen 11">
            <a:extLst>
              <a:ext uri="{FF2B5EF4-FFF2-40B4-BE49-F238E27FC236}">
                <a16:creationId xmlns:a16="http://schemas.microsoft.com/office/drawing/2014/main" id="{1551A881-215B-7A2B-9531-D7340B221B1A}"/>
              </a:ext>
            </a:extLst>
          </p:cNvPr>
          <p:cNvPicPr>
            <a:picLocks noChangeAspect="1"/>
          </p:cNvPicPr>
          <p:nvPr/>
        </p:nvPicPr>
        <p:blipFill>
          <a:blip r:embed="rId4"/>
          <a:srcRect r="43674"/>
          <a:stretch>
            <a:fillRect/>
          </a:stretch>
        </p:blipFill>
        <p:spPr>
          <a:xfrm>
            <a:off x="8279594" y="1109754"/>
            <a:ext cx="1708112" cy="3428112"/>
          </a:xfrm>
          <a:prstGeom prst="rect">
            <a:avLst/>
          </a:prstGeom>
        </p:spPr>
      </p:pic>
      <p:pic>
        <p:nvPicPr>
          <p:cNvPr id="15" name="Imagen 14">
            <a:extLst>
              <a:ext uri="{FF2B5EF4-FFF2-40B4-BE49-F238E27FC236}">
                <a16:creationId xmlns:a16="http://schemas.microsoft.com/office/drawing/2014/main" id="{6B9BC587-EB98-18DA-9D15-DE1C440F3E2B}"/>
              </a:ext>
            </a:extLst>
          </p:cNvPr>
          <p:cNvPicPr>
            <a:picLocks noChangeAspect="1"/>
          </p:cNvPicPr>
          <p:nvPr/>
        </p:nvPicPr>
        <p:blipFill>
          <a:blip r:embed="rId5"/>
          <a:srcRect t="47642"/>
          <a:stretch>
            <a:fillRect/>
          </a:stretch>
        </p:blipFill>
        <p:spPr>
          <a:xfrm>
            <a:off x="6763314" y="4850809"/>
            <a:ext cx="3032560" cy="1794874"/>
          </a:xfrm>
          <a:prstGeom prst="rect">
            <a:avLst/>
          </a:prstGeom>
        </p:spPr>
      </p:pic>
    </p:spTree>
    <p:extLst>
      <p:ext uri="{BB962C8B-B14F-4D97-AF65-F5344CB8AC3E}">
        <p14:creationId xmlns:p14="http://schemas.microsoft.com/office/powerpoint/2010/main" val="2834091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8D403DE-275A-A618-E31D-8F7E14C47BB8}"/>
              </a:ext>
            </a:extLst>
          </p:cNvPr>
          <p:cNvSpPr>
            <a:spLocks noGrp="1"/>
          </p:cNvSpPr>
          <p:nvPr>
            <p:ph sz="quarter" idx="13"/>
          </p:nvPr>
        </p:nvSpPr>
        <p:spPr>
          <a:xfrm>
            <a:off x="914087" y="155694"/>
            <a:ext cx="10363826" cy="3424107"/>
          </a:xfrm>
        </p:spPr>
        <p:txBody>
          <a:bodyPr/>
          <a:lstStyle/>
          <a:p>
            <a:pPr marL="457200" indent="-457200" algn="just">
              <a:buAutoNum type="arabicPeriod" startAt="17"/>
            </a:pPr>
            <a:r>
              <a:rPr lang="es-US" dirty="0"/>
              <a:t>El módulo de Código Intermedio ha generado correctamente la representación intermedia del código evaluado.</a:t>
            </a:r>
          </a:p>
          <a:p>
            <a:pPr marL="0" indent="0" algn="just">
              <a:buNone/>
            </a:pPr>
            <a:endParaRPr lang="es-US" dirty="0"/>
          </a:p>
        </p:txBody>
      </p:sp>
      <p:pic>
        <p:nvPicPr>
          <p:cNvPr id="6" name="Imagen 5">
            <a:extLst>
              <a:ext uri="{FF2B5EF4-FFF2-40B4-BE49-F238E27FC236}">
                <a16:creationId xmlns:a16="http://schemas.microsoft.com/office/drawing/2014/main" id="{09041CC8-CE18-FC6E-9FE4-F7E5DBCB7742}"/>
              </a:ext>
            </a:extLst>
          </p:cNvPr>
          <p:cNvPicPr>
            <a:picLocks noChangeAspect="1"/>
          </p:cNvPicPr>
          <p:nvPr/>
        </p:nvPicPr>
        <p:blipFill>
          <a:blip r:embed="rId2"/>
          <a:srcRect r="40633"/>
          <a:stretch>
            <a:fillRect/>
          </a:stretch>
        </p:blipFill>
        <p:spPr>
          <a:xfrm>
            <a:off x="539985" y="1235856"/>
            <a:ext cx="2454167" cy="3428112"/>
          </a:xfrm>
          <a:prstGeom prst="rect">
            <a:avLst/>
          </a:prstGeom>
        </p:spPr>
      </p:pic>
      <p:pic>
        <p:nvPicPr>
          <p:cNvPr id="9" name="Imagen 8">
            <a:extLst>
              <a:ext uri="{FF2B5EF4-FFF2-40B4-BE49-F238E27FC236}">
                <a16:creationId xmlns:a16="http://schemas.microsoft.com/office/drawing/2014/main" id="{F10FFD49-5B0C-65F0-1192-8D25A8913876}"/>
              </a:ext>
            </a:extLst>
          </p:cNvPr>
          <p:cNvPicPr>
            <a:picLocks noChangeAspect="1"/>
          </p:cNvPicPr>
          <p:nvPr/>
        </p:nvPicPr>
        <p:blipFill>
          <a:blip r:embed="rId3"/>
          <a:srcRect r="34832"/>
          <a:stretch>
            <a:fillRect/>
          </a:stretch>
        </p:blipFill>
        <p:spPr>
          <a:xfrm>
            <a:off x="8356572" y="1235248"/>
            <a:ext cx="2693958" cy="3428112"/>
          </a:xfrm>
          <a:prstGeom prst="rect">
            <a:avLst/>
          </a:prstGeom>
        </p:spPr>
      </p:pic>
      <p:pic>
        <p:nvPicPr>
          <p:cNvPr id="12" name="Imagen 11">
            <a:extLst>
              <a:ext uri="{FF2B5EF4-FFF2-40B4-BE49-F238E27FC236}">
                <a16:creationId xmlns:a16="http://schemas.microsoft.com/office/drawing/2014/main" id="{F588A4D9-AF9B-472D-E149-3B9A584175EC}"/>
              </a:ext>
            </a:extLst>
          </p:cNvPr>
          <p:cNvPicPr>
            <a:picLocks noChangeAspect="1"/>
          </p:cNvPicPr>
          <p:nvPr/>
        </p:nvPicPr>
        <p:blipFill>
          <a:blip r:embed="rId4"/>
          <a:stretch>
            <a:fillRect/>
          </a:stretch>
        </p:blipFill>
        <p:spPr>
          <a:xfrm>
            <a:off x="3608046" y="1235248"/>
            <a:ext cx="4134632" cy="3428720"/>
          </a:xfrm>
          <a:prstGeom prst="rect">
            <a:avLst/>
          </a:prstGeom>
        </p:spPr>
      </p:pic>
    </p:spTree>
    <p:extLst>
      <p:ext uri="{BB962C8B-B14F-4D97-AF65-F5344CB8AC3E}">
        <p14:creationId xmlns:p14="http://schemas.microsoft.com/office/powerpoint/2010/main" val="2872188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F24F1A1-8ACF-3C21-3E63-94EE745CE8B9}"/>
              </a:ext>
            </a:extLst>
          </p:cNvPr>
          <p:cNvSpPr>
            <a:spLocks noGrp="1"/>
          </p:cNvSpPr>
          <p:nvPr>
            <p:ph sz="quarter" idx="13"/>
          </p:nvPr>
        </p:nvSpPr>
        <p:spPr>
          <a:xfrm>
            <a:off x="914087" y="262267"/>
            <a:ext cx="10363826" cy="3424107"/>
          </a:xfrm>
        </p:spPr>
        <p:txBody>
          <a:bodyPr/>
          <a:lstStyle/>
          <a:p>
            <a:pPr marL="457200" indent="-457200" algn="just">
              <a:buAutoNum type="arabicPeriod" startAt="18"/>
            </a:pPr>
            <a:r>
              <a:rPr lang="es-US" dirty="0"/>
              <a:t>Al seleccionar 3. Optimización y hacer clic en ► ANALIZAR, el </a:t>
            </a:r>
            <a:r>
              <a:rPr lang="es-US" dirty="0" err="1"/>
              <a:t>backend</a:t>
            </a:r>
            <a:r>
              <a:rPr lang="es-US" dirty="0"/>
              <a:t> de tu aplicación Spring </a:t>
            </a:r>
            <a:r>
              <a:rPr lang="es-US" dirty="0" err="1"/>
              <a:t>Boot</a:t>
            </a:r>
            <a:r>
              <a:rPr lang="es-US" dirty="0"/>
              <a:t> procesará las siguientes optimizaciones sobre el código cargado.</a:t>
            </a:r>
          </a:p>
          <a:p>
            <a:pPr marL="0" indent="0" algn="just">
              <a:buNone/>
            </a:pPr>
            <a:endParaRPr lang="es-US" dirty="0"/>
          </a:p>
        </p:txBody>
      </p:sp>
      <p:pic>
        <p:nvPicPr>
          <p:cNvPr id="6" name="Imagen 5">
            <a:extLst>
              <a:ext uri="{FF2B5EF4-FFF2-40B4-BE49-F238E27FC236}">
                <a16:creationId xmlns:a16="http://schemas.microsoft.com/office/drawing/2014/main" id="{EEB564D7-3667-FF04-31B1-BD3FE98C1A50}"/>
              </a:ext>
            </a:extLst>
          </p:cNvPr>
          <p:cNvPicPr>
            <a:picLocks noChangeAspect="1"/>
          </p:cNvPicPr>
          <p:nvPr/>
        </p:nvPicPr>
        <p:blipFill>
          <a:blip r:embed="rId2"/>
          <a:stretch>
            <a:fillRect/>
          </a:stretch>
        </p:blipFill>
        <p:spPr>
          <a:xfrm>
            <a:off x="1560099" y="1785993"/>
            <a:ext cx="4133899" cy="3428112"/>
          </a:xfrm>
          <a:prstGeom prst="rect">
            <a:avLst/>
          </a:prstGeom>
        </p:spPr>
      </p:pic>
      <p:pic>
        <p:nvPicPr>
          <p:cNvPr id="9" name="Imagen 8">
            <a:extLst>
              <a:ext uri="{FF2B5EF4-FFF2-40B4-BE49-F238E27FC236}">
                <a16:creationId xmlns:a16="http://schemas.microsoft.com/office/drawing/2014/main" id="{CA2948BC-AE8F-C3CA-D305-53C9AD0E01C1}"/>
              </a:ext>
            </a:extLst>
          </p:cNvPr>
          <p:cNvPicPr>
            <a:picLocks noChangeAspect="1"/>
          </p:cNvPicPr>
          <p:nvPr/>
        </p:nvPicPr>
        <p:blipFill>
          <a:blip r:embed="rId3"/>
          <a:stretch>
            <a:fillRect/>
          </a:stretch>
        </p:blipFill>
        <p:spPr>
          <a:xfrm>
            <a:off x="6340010" y="1831287"/>
            <a:ext cx="4133899" cy="3428112"/>
          </a:xfrm>
          <a:prstGeom prst="rect">
            <a:avLst/>
          </a:prstGeom>
        </p:spPr>
      </p:pic>
    </p:spTree>
    <p:extLst>
      <p:ext uri="{BB962C8B-B14F-4D97-AF65-F5344CB8AC3E}">
        <p14:creationId xmlns:p14="http://schemas.microsoft.com/office/powerpoint/2010/main" val="896077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8F95DED-9379-1835-6916-5F238CC4F946}"/>
              </a:ext>
            </a:extLst>
          </p:cNvPr>
          <p:cNvSpPr>
            <a:spLocks noGrp="1"/>
          </p:cNvSpPr>
          <p:nvPr>
            <p:ph sz="quarter" idx="13"/>
          </p:nvPr>
        </p:nvSpPr>
        <p:spPr>
          <a:xfrm>
            <a:off x="914087" y="306672"/>
            <a:ext cx="10363826" cy="3424107"/>
          </a:xfrm>
        </p:spPr>
        <p:txBody>
          <a:bodyPr/>
          <a:lstStyle/>
          <a:p>
            <a:pPr marL="457200" indent="-457200" algn="just">
              <a:buAutoNum type="arabicPeriod" startAt="19"/>
            </a:pPr>
            <a:r>
              <a:rPr lang="es-US" dirty="0"/>
              <a:t>El módulo de Código Objeto ha finalizado la traducción final a bajo nivel y administración de recursos del sistema.</a:t>
            </a:r>
          </a:p>
          <a:p>
            <a:pPr marL="0" indent="0" algn="just">
              <a:buNone/>
            </a:pPr>
            <a:endParaRPr lang="es-US" dirty="0"/>
          </a:p>
        </p:txBody>
      </p:sp>
      <p:pic>
        <p:nvPicPr>
          <p:cNvPr id="6" name="Imagen 5">
            <a:extLst>
              <a:ext uri="{FF2B5EF4-FFF2-40B4-BE49-F238E27FC236}">
                <a16:creationId xmlns:a16="http://schemas.microsoft.com/office/drawing/2014/main" id="{26715D20-A29B-7AB2-7E22-239CFA3BDCF0}"/>
              </a:ext>
            </a:extLst>
          </p:cNvPr>
          <p:cNvPicPr>
            <a:picLocks noChangeAspect="1"/>
          </p:cNvPicPr>
          <p:nvPr/>
        </p:nvPicPr>
        <p:blipFill>
          <a:blip r:embed="rId2"/>
          <a:stretch>
            <a:fillRect/>
          </a:stretch>
        </p:blipFill>
        <p:spPr>
          <a:xfrm>
            <a:off x="1449028" y="1510679"/>
            <a:ext cx="4133899" cy="3428112"/>
          </a:xfrm>
          <a:prstGeom prst="rect">
            <a:avLst/>
          </a:prstGeom>
        </p:spPr>
      </p:pic>
      <p:pic>
        <p:nvPicPr>
          <p:cNvPr id="9" name="Imagen 8">
            <a:extLst>
              <a:ext uri="{FF2B5EF4-FFF2-40B4-BE49-F238E27FC236}">
                <a16:creationId xmlns:a16="http://schemas.microsoft.com/office/drawing/2014/main" id="{973E06BA-1FB7-4C46-B875-F4428328ECE1}"/>
              </a:ext>
            </a:extLst>
          </p:cNvPr>
          <p:cNvPicPr>
            <a:picLocks noChangeAspect="1"/>
          </p:cNvPicPr>
          <p:nvPr/>
        </p:nvPicPr>
        <p:blipFill>
          <a:blip r:embed="rId3"/>
          <a:stretch>
            <a:fillRect/>
          </a:stretch>
        </p:blipFill>
        <p:spPr>
          <a:xfrm>
            <a:off x="6096000" y="1510679"/>
            <a:ext cx="4133899" cy="3428112"/>
          </a:xfrm>
          <a:prstGeom prst="rect">
            <a:avLst/>
          </a:prstGeom>
        </p:spPr>
      </p:pic>
    </p:spTree>
    <p:extLst>
      <p:ext uri="{BB962C8B-B14F-4D97-AF65-F5344CB8AC3E}">
        <p14:creationId xmlns:p14="http://schemas.microsoft.com/office/powerpoint/2010/main" val="1763111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0D9536-2373-4716-A85D-A9802C1E1138}"/>
              </a:ext>
            </a:extLst>
          </p:cNvPr>
          <p:cNvSpPr>
            <a:spLocks noGrp="1"/>
          </p:cNvSpPr>
          <p:nvPr>
            <p:ph type="title"/>
          </p:nvPr>
        </p:nvSpPr>
        <p:spPr>
          <a:xfrm>
            <a:off x="1790700" y="585602"/>
            <a:ext cx="8610600" cy="1293028"/>
          </a:xfrm>
        </p:spPr>
        <p:txBody>
          <a:bodyPr/>
          <a:lstStyle/>
          <a:p>
            <a:pPr algn="ctr"/>
            <a:r>
              <a:rPr lang="es-MX" b="1" dirty="0"/>
              <a:t>Conclusión</a:t>
            </a:r>
            <a:r>
              <a:rPr lang="es-MX" dirty="0"/>
              <a:t> </a:t>
            </a:r>
          </a:p>
        </p:txBody>
      </p:sp>
      <p:sp>
        <p:nvSpPr>
          <p:cNvPr id="3" name="Marcador de contenido 2">
            <a:extLst>
              <a:ext uri="{FF2B5EF4-FFF2-40B4-BE49-F238E27FC236}">
                <a16:creationId xmlns:a16="http://schemas.microsoft.com/office/drawing/2014/main" id="{2068DE2A-CAFB-400E-89FD-3E49FD7B341C}"/>
              </a:ext>
            </a:extLst>
          </p:cNvPr>
          <p:cNvSpPr>
            <a:spLocks noGrp="1"/>
          </p:cNvSpPr>
          <p:nvPr>
            <p:ph sz="quarter" idx="13"/>
          </p:nvPr>
        </p:nvSpPr>
        <p:spPr>
          <a:xfrm>
            <a:off x="914087" y="1627759"/>
            <a:ext cx="10363826" cy="4580143"/>
          </a:xfrm>
        </p:spPr>
        <p:txBody>
          <a:bodyPr>
            <a:noAutofit/>
          </a:bodyPr>
          <a:lstStyle/>
          <a:p>
            <a:pPr marL="0" indent="0" algn="just">
              <a:buNone/>
            </a:pPr>
            <a:r>
              <a:rPr lang="es-US" sz="1800" dirty="0"/>
              <a:t>Como conclusión puedo decir sobre la implementación exitosa del Compilador Educativo demuestra la viabilidad de integrar arquitecturas </a:t>
            </a:r>
            <a:r>
              <a:rPr lang="es-US" sz="1800" dirty="0" err="1"/>
              <a:t>backend</a:t>
            </a:r>
            <a:r>
              <a:rPr lang="es-US" sz="1800" dirty="0"/>
              <a:t> robustas con interfaces web responsivas para el análisis de lenguajes de programación. Mediante la correcta configuración del entorno en </a:t>
            </a:r>
            <a:r>
              <a:rPr lang="es-US" sz="1800" dirty="0" err="1"/>
              <a:t>IntelliJ</a:t>
            </a:r>
            <a:r>
              <a:rPr lang="es-US" sz="1800" dirty="0"/>
              <a:t> IDEA, el uso de dependencias como </a:t>
            </a:r>
            <a:r>
              <a:rPr lang="es-US" sz="1800" dirty="0" err="1"/>
              <a:t>spring</a:t>
            </a:r>
            <a:r>
              <a:rPr lang="es-US" sz="1800" dirty="0"/>
              <a:t>-</a:t>
            </a:r>
            <a:r>
              <a:rPr lang="es-US" sz="1800" dirty="0" err="1"/>
              <a:t>boot</a:t>
            </a:r>
            <a:r>
              <a:rPr lang="es-US" sz="1800" dirty="0"/>
              <a:t>-starter-web y la estructuración adecuada de clases y componentes estáticos, se logró levantar de manera eficiente un servidor embebido en el puerto 8080. Los diferentes módulos desarrollados que abarcan desde el análisis semántico y la generación de código intermedio hasta las fases de optimización y traducción a lenguaje máquina operan de forma cohesiva para devolver resultados claros y estructurados al usuario. En consecuencia, este proyecto cumple con su propósito formativo y técnico, consolidándose como una plataforma sólida para la experimentación y el estudio avanzado de compiladores.</a:t>
            </a:r>
          </a:p>
        </p:txBody>
      </p:sp>
    </p:spTree>
    <p:extLst>
      <p:ext uri="{BB962C8B-B14F-4D97-AF65-F5344CB8AC3E}">
        <p14:creationId xmlns:p14="http://schemas.microsoft.com/office/powerpoint/2010/main" val="2345241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BC1242-DB8D-B4F7-00D1-38EA0F05D1B5}"/>
              </a:ext>
            </a:extLst>
          </p:cNvPr>
          <p:cNvSpPr>
            <a:spLocks noGrp="1"/>
          </p:cNvSpPr>
          <p:nvPr>
            <p:ph type="title"/>
          </p:nvPr>
        </p:nvSpPr>
        <p:spPr/>
        <p:txBody>
          <a:bodyPr/>
          <a:lstStyle/>
          <a:p>
            <a:r>
              <a:rPr lang="es-US" dirty="0"/>
              <a:t>FUENTES DE INFORMACIÓN </a:t>
            </a:r>
            <a:br>
              <a:rPr lang="es-US" dirty="0"/>
            </a:br>
            <a:endParaRPr lang="es-US" dirty="0"/>
          </a:p>
        </p:txBody>
      </p:sp>
      <p:sp>
        <p:nvSpPr>
          <p:cNvPr id="3" name="Marcador de contenido 2">
            <a:extLst>
              <a:ext uri="{FF2B5EF4-FFF2-40B4-BE49-F238E27FC236}">
                <a16:creationId xmlns:a16="http://schemas.microsoft.com/office/drawing/2014/main" id="{16FCFE16-4E8A-546F-04E1-D9447FEF40C1}"/>
              </a:ext>
            </a:extLst>
          </p:cNvPr>
          <p:cNvSpPr>
            <a:spLocks noGrp="1"/>
          </p:cNvSpPr>
          <p:nvPr>
            <p:ph sz="quarter" idx="13"/>
          </p:nvPr>
        </p:nvSpPr>
        <p:spPr>
          <a:xfrm>
            <a:off x="924444" y="1497973"/>
            <a:ext cx="10363826" cy="3424107"/>
          </a:xfrm>
        </p:spPr>
        <p:txBody>
          <a:bodyPr>
            <a:normAutofit lnSpcReduction="10000"/>
          </a:bodyPr>
          <a:lstStyle/>
          <a:p>
            <a:r>
              <a:rPr lang="es-US" dirty="0"/>
              <a:t>Generación de </a:t>
            </a:r>
            <a:r>
              <a:rPr lang="es-US" dirty="0" err="1"/>
              <a:t>Codigo</a:t>
            </a:r>
            <a:r>
              <a:rPr lang="es-US" dirty="0"/>
              <a:t> Objeto | </a:t>
            </a:r>
            <a:r>
              <a:rPr lang="es-US" dirty="0" err="1"/>
              <a:t>Prezi</a:t>
            </a:r>
            <a:r>
              <a:rPr lang="es-US" dirty="0"/>
              <a:t> </a:t>
            </a:r>
            <a:r>
              <a:rPr lang="es-US" dirty="0">
                <a:hlinkClick r:id="rId2"/>
              </a:rPr>
              <a:t>https://share.google/lIiBDA66cjWhvBwMT</a:t>
            </a:r>
            <a:r>
              <a:rPr lang="es-US" dirty="0"/>
              <a:t> </a:t>
            </a:r>
          </a:p>
          <a:p>
            <a:r>
              <a:rPr lang="es-US" dirty="0"/>
              <a:t>Generador de Código Objeto unidad 4: unidad 4 Generación de código objeto </a:t>
            </a:r>
            <a:r>
              <a:rPr lang="es-US" dirty="0">
                <a:hlinkClick r:id="rId3"/>
              </a:rPr>
              <a:t>https://share.google/MXX3Z4z8JzS138d3W</a:t>
            </a:r>
            <a:r>
              <a:rPr lang="es-US" dirty="0"/>
              <a:t> </a:t>
            </a:r>
          </a:p>
          <a:p>
            <a:r>
              <a:rPr lang="es-US" dirty="0">
                <a:hlinkClick r:id="rId4"/>
              </a:rPr>
              <a:t>https://youtu.be/5AaDqy1UiFU?si=K0tv__YZputsoZ1b</a:t>
            </a:r>
            <a:endParaRPr lang="es-US" dirty="0"/>
          </a:p>
          <a:p>
            <a:r>
              <a:rPr lang="es-US" dirty="0"/>
              <a:t>Tema 4 : </a:t>
            </a:r>
            <a:r>
              <a:rPr lang="es-US" dirty="0" err="1"/>
              <a:t>Generacion</a:t>
            </a:r>
            <a:r>
              <a:rPr lang="es-US" dirty="0"/>
              <a:t> De </a:t>
            </a:r>
            <a:r>
              <a:rPr lang="es-US" dirty="0" err="1"/>
              <a:t>Codigo</a:t>
            </a:r>
            <a:r>
              <a:rPr lang="es-US" dirty="0"/>
              <a:t> Objeto | </a:t>
            </a:r>
            <a:r>
              <a:rPr lang="es-US" dirty="0" err="1"/>
              <a:t>Genially</a:t>
            </a:r>
            <a:r>
              <a:rPr lang="es-US" dirty="0"/>
              <a:t> </a:t>
            </a:r>
            <a:r>
              <a:rPr lang="es-US" dirty="0">
                <a:hlinkClick r:id="rId5"/>
              </a:rPr>
              <a:t>https://share.google/BOoWz0Ie0nwu99gmU</a:t>
            </a:r>
            <a:r>
              <a:rPr lang="es-US" dirty="0"/>
              <a:t> </a:t>
            </a:r>
          </a:p>
          <a:p>
            <a:r>
              <a:rPr lang="es-US" dirty="0"/>
              <a:t>Generación de Código en Lenguajes II | PDF | Lenguaje ensamblador | Memoria del ordenador </a:t>
            </a:r>
            <a:r>
              <a:rPr lang="es-US" dirty="0">
                <a:hlinkClick r:id="rId6"/>
              </a:rPr>
              <a:t>https://share.google/toBdqPyQUF4cLoPQu</a:t>
            </a:r>
            <a:r>
              <a:rPr lang="es-US" dirty="0"/>
              <a:t> </a:t>
            </a:r>
          </a:p>
          <a:p>
            <a:endParaRPr lang="es-US" dirty="0"/>
          </a:p>
        </p:txBody>
      </p:sp>
    </p:spTree>
    <p:extLst>
      <p:ext uri="{BB962C8B-B14F-4D97-AF65-F5344CB8AC3E}">
        <p14:creationId xmlns:p14="http://schemas.microsoft.com/office/powerpoint/2010/main" val="2273109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6645E30-D505-9367-C961-345033C412EF}"/>
              </a:ext>
            </a:extLst>
          </p:cNvPr>
          <p:cNvSpPr>
            <a:spLocks noGrp="1"/>
          </p:cNvSpPr>
          <p:nvPr>
            <p:ph sz="quarter" idx="13"/>
          </p:nvPr>
        </p:nvSpPr>
        <p:spPr>
          <a:xfrm>
            <a:off x="848460" y="389003"/>
            <a:ext cx="10363826" cy="3424107"/>
          </a:xfrm>
        </p:spPr>
        <p:txBody>
          <a:bodyPr/>
          <a:lstStyle/>
          <a:p>
            <a:pPr marL="0" indent="0">
              <a:buNone/>
            </a:pPr>
            <a:r>
              <a:rPr lang="es-MX" dirty="0"/>
              <a:t>Link de </a:t>
            </a:r>
            <a:r>
              <a:rPr lang="es-MX" dirty="0" err="1"/>
              <a:t>github</a:t>
            </a:r>
            <a:r>
              <a:rPr lang="es-MX" dirty="0"/>
              <a:t>:  </a:t>
            </a:r>
            <a:r>
              <a:rPr lang="es-MX" dirty="0">
                <a:hlinkClick r:id="rId2"/>
              </a:rPr>
              <a:t>https://github.com/Angel-ortiz144/LYAll-Tema-4.git</a:t>
            </a:r>
            <a:r>
              <a:rPr lang="es-MX" dirty="0"/>
              <a:t> </a:t>
            </a:r>
          </a:p>
        </p:txBody>
      </p:sp>
      <p:pic>
        <p:nvPicPr>
          <p:cNvPr id="4" name="Imagen 3">
            <a:extLst>
              <a:ext uri="{FF2B5EF4-FFF2-40B4-BE49-F238E27FC236}">
                <a16:creationId xmlns:a16="http://schemas.microsoft.com/office/drawing/2014/main" id="{5082902E-F896-4CA1-AB96-B3EFB498E803}"/>
              </a:ext>
            </a:extLst>
          </p:cNvPr>
          <p:cNvPicPr>
            <a:picLocks noChangeAspect="1"/>
          </p:cNvPicPr>
          <p:nvPr/>
        </p:nvPicPr>
        <p:blipFill>
          <a:blip r:embed="rId3"/>
          <a:stretch>
            <a:fillRect/>
          </a:stretch>
        </p:blipFill>
        <p:spPr>
          <a:xfrm>
            <a:off x="1586753" y="986118"/>
            <a:ext cx="9018494" cy="5082988"/>
          </a:xfrm>
          <a:prstGeom prst="rect">
            <a:avLst/>
          </a:prstGeom>
        </p:spPr>
      </p:pic>
    </p:spTree>
    <p:extLst>
      <p:ext uri="{BB962C8B-B14F-4D97-AF65-F5344CB8AC3E}">
        <p14:creationId xmlns:p14="http://schemas.microsoft.com/office/powerpoint/2010/main" val="32465562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TM04033921[[fn=Damasco]]</Template>
  <TotalTime>823</TotalTime>
  <Words>1415</Words>
  <Application>Microsoft Office PowerPoint</Application>
  <PresentationFormat>Panorámica</PresentationFormat>
  <Paragraphs>77</Paragraphs>
  <Slides>23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23</vt:i4>
      </vt:variant>
    </vt:vector>
  </HeadingPairs>
  <TitlesOfParts>
    <vt:vector size="27" baseType="lpstr">
      <vt:lpstr>Arial</vt:lpstr>
      <vt:lpstr>Bookman Old Style</vt:lpstr>
      <vt:lpstr>Rockwell</vt:lpstr>
      <vt:lpstr>Damask</vt:lpstr>
      <vt:lpstr>Instituto tecnológico de nacional de México  (instituto tecnológico de frontera Comalapa) </vt:lpstr>
      <vt:lpstr>Introducción </vt:lpstr>
      <vt:lpstr>JUSTIFICACIÓN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Conclusión </vt:lpstr>
      <vt:lpstr>FUENTES DE INFORMACIÓN  </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Instituto tecnológico de frontera Comalapa</dc:title>
  <dc:creator>WER-PCPLUS</dc:creator>
  <cp:lastModifiedBy>ANGEL DE JESÚS MAZARIEGOS ORTIZ</cp:lastModifiedBy>
  <cp:revision>176</cp:revision>
  <dcterms:created xsi:type="dcterms:W3CDTF">2024-03-08T16:42:11Z</dcterms:created>
  <dcterms:modified xsi:type="dcterms:W3CDTF">2026-10-03T06:20:35Z</dcterms:modified>
</cp:coreProperties>
</file>